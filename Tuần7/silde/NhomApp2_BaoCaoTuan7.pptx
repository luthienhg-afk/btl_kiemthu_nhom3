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7"/>
  </p:notesMasterIdLst>
  <p:sldIdLst>
    <p:sldId id="256" r:id="rId2"/>
    <p:sldId id="259" r:id="rId3"/>
    <p:sldId id="347" r:id="rId4"/>
    <p:sldId id="355" r:id="rId5"/>
    <p:sldId id="356" r:id="rId6"/>
    <p:sldId id="350" r:id="rId7"/>
    <p:sldId id="351" r:id="rId8"/>
    <p:sldId id="352" r:id="rId9"/>
    <p:sldId id="357" r:id="rId10"/>
    <p:sldId id="362" r:id="rId11"/>
    <p:sldId id="360" r:id="rId12"/>
    <p:sldId id="361" r:id="rId13"/>
    <p:sldId id="365" r:id="rId14"/>
    <p:sldId id="366" r:id="rId15"/>
    <p:sldId id="358" r:id="rId1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old" panose="00000800000000000000" pitchFamily="2" charset="0"/>
      <p:bold r:id="rId23"/>
    </p:embeddedFont>
    <p:embeddedFont>
      <p:font typeface="Vidaloka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089CA-6953-3C67-AF1C-48F0C70FC5F0}" v="33" dt="2026-10-30T05:05:07.992"/>
    <p1510:client id="{AB33B5EB-792A-43F8-AB7B-243D8A33D83A}" v="680" dt="2026-10-30T08:47:40.355"/>
  </p1510:revLst>
</p1510:revInfo>
</file>

<file path=ppt/tableStyles.xml><?xml version="1.0" encoding="utf-8"?>
<a:tblStyleLst xmlns:a="http://schemas.openxmlformats.org/drawingml/2006/main" def="{ABA671F7-B6A1-46BB-9EC4-B29FF03D59F8}">
  <a:tblStyle styleId="{ABA671F7-B6A1-46BB-9EC4-B29FF03D59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298" y="-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1BBD-7A3C-CDAC-1114-4C6AC3DB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DF3D1-A43E-C112-0167-577969AA3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1D52A-F9B1-21C6-5E5F-D0BB58763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199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C977-C10A-7D02-90AC-58175EE5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1595D-1A3E-A266-7A0C-1E63B7EFD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19905-6498-4E8F-353D-93B70650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661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+mn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latin typeface="+mn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n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60" r:id="rId4"/>
    <p:sldLayoutId id="2147483697" r:id="rId5"/>
    <p:sldLayoutId id="2147483698" r:id="rId6"/>
    <p:sldLayoutId id="2147483699" r:id="rId7"/>
    <p:sldLayoutId id="214748370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949384" y="2185946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vi-VN" sz="1400" i="1">
                <a:latin typeface="Arial"/>
              </a:rPr>
              <a:t>Nội dung tìm hiểu nội dung tuần 7 – </a:t>
            </a:r>
            <a:r>
              <a:rPr lang="vi-VN" sz="1400" i="1" err="1">
                <a:latin typeface="Arial"/>
              </a:rPr>
              <a:t>Demo</a:t>
            </a:r>
            <a:r>
              <a:rPr lang="vi-VN" sz="1400" i="1">
                <a:latin typeface="Arial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48BC5F-AD32-F996-4DB3-9317A7F07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96220"/>
            <a:ext cx="9144000" cy="742388"/>
          </a:xfrm>
        </p:spPr>
        <p:txBody>
          <a:bodyPr/>
          <a:lstStyle/>
          <a:p>
            <a:r>
              <a:rPr lang="vi-VN" sz="4400" b="1"/>
              <a:t>BÁO CÁO NỘI DUNG TUẦN 7</a:t>
            </a:r>
            <a:endParaRPr lang="en-US" sz="4400" b="1"/>
          </a:p>
        </p:txBody>
      </p:sp>
      <p:sp>
        <p:nvSpPr>
          <p:cNvPr id="4" name="Google Shape;489;p60">
            <a:extLst>
              <a:ext uri="{FF2B5EF4-FFF2-40B4-BE49-F238E27FC236}">
                <a16:creationId xmlns:a16="http://schemas.microsoft.com/office/drawing/2014/main" id="{6A996F69-6F65-158C-BE52-F533CDE1F888}"/>
              </a:ext>
            </a:extLst>
          </p:cNvPr>
          <p:cNvSpPr txBox="1">
            <a:spLocks/>
          </p:cNvSpPr>
          <p:nvPr/>
        </p:nvSpPr>
        <p:spPr>
          <a:xfrm>
            <a:off x="1915107" y="3017085"/>
            <a:ext cx="6256827" cy="53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 spc="0">
                <a:solidFill>
                  <a:schemeClr val="dk2"/>
                </a:solidFill>
                <a:latin typeface="+mn-l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vi-VN">
                <a:latin typeface="Arial"/>
              </a:rPr>
              <a:t>Nhóm </a:t>
            </a:r>
            <a:r>
              <a:rPr lang="vi-VN" err="1">
                <a:latin typeface="Arial"/>
              </a:rPr>
              <a:t>App</a:t>
            </a:r>
            <a:r>
              <a:rPr lang="vi-VN">
                <a:latin typeface="Arial"/>
              </a:rPr>
              <a:t> 2: Hải Đăng, Trung Đức, Diệu Linh, Mai Anh​ </a:t>
            </a:r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"/>
          <p:cNvSpPr txBox="1">
            <a:spLocks noGrp="1"/>
          </p:cNvSpPr>
          <p:nvPr>
            <p:ph type="title"/>
          </p:nvPr>
        </p:nvSpPr>
        <p:spPr>
          <a:xfrm>
            <a:off x="1946483" y="1814894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err="1">
                <a:latin typeface="+mn-lt"/>
              </a:rPr>
              <a:t>Cookie</a:t>
            </a:r>
            <a:endParaRPr>
              <a:latin typeface="+mn-lt"/>
            </a:endParaRPr>
          </a:p>
        </p:txBody>
      </p:sp>
      <p:sp>
        <p:nvSpPr>
          <p:cNvPr id="520" name="Google Shape;520;p63"/>
          <p:cNvSpPr txBox="1">
            <a:spLocks noGrp="1"/>
          </p:cNvSpPr>
          <p:nvPr>
            <p:ph type="title" idx="4"/>
          </p:nvPr>
        </p:nvSpPr>
        <p:spPr>
          <a:xfrm>
            <a:off x="5392883" y="1090263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+mn-lt"/>
              </a:rPr>
              <a:t>02</a:t>
            </a:r>
            <a:endParaRPr b="1">
              <a:latin typeface="+mn-lt"/>
            </a:endParaRPr>
          </a:p>
        </p:txBody>
      </p:sp>
      <p:sp>
        <p:nvSpPr>
          <p:cNvPr id="521" name="Google Shape;521;p63"/>
          <p:cNvSpPr txBox="1">
            <a:spLocks noGrp="1"/>
          </p:cNvSpPr>
          <p:nvPr>
            <p:ph type="title" idx="13"/>
          </p:nvPr>
        </p:nvSpPr>
        <p:spPr>
          <a:xfrm>
            <a:off x="5392883" y="296120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+mn-lt"/>
              </a:rPr>
              <a:t>04</a:t>
            </a:r>
            <a:endParaRPr b="1">
              <a:latin typeface="+mn-lt"/>
            </a:endParaRPr>
          </a:p>
        </p:txBody>
      </p:sp>
      <p:sp>
        <p:nvSpPr>
          <p:cNvPr id="522" name="Google Shape;522;p63"/>
          <p:cNvSpPr txBox="1">
            <a:spLocks noGrp="1"/>
          </p:cNvSpPr>
          <p:nvPr>
            <p:ph type="title" idx="2"/>
          </p:nvPr>
        </p:nvSpPr>
        <p:spPr>
          <a:xfrm>
            <a:off x="2709083" y="1090263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+mn-lt"/>
              </a:rPr>
              <a:t>01</a:t>
            </a:r>
            <a:endParaRPr b="1">
              <a:latin typeface="+mn-lt"/>
            </a:endParaRPr>
          </a:p>
        </p:txBody>
      </p:sp>
      <p:sp>
        <p:nvSpPr>
          <p:cNvPr id="523" name="Google Shape;523;p63"/>
          <p:cNvSpPr txBox="1">
            <a:spLocks noGrp="1"/>
          </p:cNvSpPr>
          <p:nvPr>
            <p:ph type="title" idx="3"/>
          </p:nvPr>
        </p:nvSpPr>
        <p:spPr>
          <a:xfrm>
            <a:off x="4630283" y="1672156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latin typeface="+mn-lt"/>
              </a:rPr>
              <a:t>Cơ chế chờ tường minh</a:t>
            </a:r>
            <a:endParaRPr>
              <a:latin typeface="+mn-lt"/>
            </a:endParaRPr>
          </a:p>
        </p:txBody>
      </p:sp>
      <p:sp>
        <p:nvSpPr>
          <p:cNvPr id="525" name="Google Shape;525;p63"/>
          <p:cNvSpPr txBox="1">
            <a:spLocks noGrp="1"/>
          </p:cNvSpPr>
          <p:nvPr>
            <p:ph type="title" idx="6"/>
          </p:nvPr>
        </p:nvSpPr>
        <p:spPr>
          <a:xfrm>
            <a:off x="1946482" y="3546458"/>
            <a:ext cx="2470485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latin typeface="+mn-lt"/>
              </a:rPr>
              <a:t>Thiết lập thuộc tính mong muốn</a:t>
            </a:r>
            <a:endParaRPr>
              <a:latin typeface="+mn-lt"/>
            </a:endParaRPr>
          </a:p>
        </p:txBody>
      </p:sp>
      <p:sp>
        <p:nvSpPr>
          <p:cNvPr id="526" name="Google Shape;526;p63"/>
          <p:cNvSpPr txBox="1">
            <a:spLocks noGrp="1"/>
          </p:cNvSpPr>
          <p:nvPr>
            <p:ph type="title" idx="7"/>
          </p:nvPr>
        </p:nvSpPr>
        <p:spPr>
          <a:xfrm>
            <a:off x="2709083" y="296456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+mn-lt"/>
              </a:rPr>
              <a:t>03</a:t>
            </a:r>
            <a:endParaRPr b="1">
              <a:latin typeface="+mn-lt"/>
            </a:endParaRPr>
          </a:p>
        </p:txBody>
      </p:sp>
      <p:sp>
        <p:nvSpPr>
          <p:cNvPr id="527" name="Google Shape;527;p63"/>
          <p:cNvSpPr txBox="1">
            <a:spLocks noGrp="1"/>
          </p:cNvSpPr>
          <p:nvPr>
            <p:ph type="title" idx="9"/>
          </p:nvPr>
        </p:nvSpPr>
        <p:spPr>
          <a:xfrm>
            <a:off x="4626169" y="3597437"/>
            <a:ext cx="2470486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2000" dirty="0" err="1">
                <a:latin typeface="+mn-lt"/>
              </a:rPr>
              <a:t>Demo</a:t>
            </a:r>
            <a:r>
              <a:rPr lang="vi-VN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Trạng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thái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Ứng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dụng</a:t>
            </a:r>
            <a:r>
              <a:rPr lang="en-US" sz="2000" dirty="0">
                <a:latin typeface="+mn-lt"/>
              </a:rPr>
              <a:t> &amp; Reset App State</a:t>
            </a:r>
            <a:endParaRPr sz="2000" dirty="0">
              <a:latin typeface="+mn-lt"/>
            </a:endParaRPr>
          </a:p>
        </p:txBody>
      </p:sp>
      <p:sp>
        <p:nvSpPr>
          <p:cNvPr id="535" name="Google Shape;535;p63"/>
          <p:cNvSpPr txBox="1">
            <a:spLocks noGrp="1"/>
          </p:cNvSpPr>
          <p:nvPr>
            <p:ph type="title" idx="21"/>
          </p:nvPr>
        </p:nvSpPr>
        <p:spPr>
          <a:xfrm>
            <a:off x="2487383" y="320630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>
                <a:latin typeface="+mn-lt"/>
              </a:rPr>
              <a:t>Nội dung</a:t>
            </a:r>
            <a:endParaRPr sz="3600" b="1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C8CF75-5AB1-F594-2843-2E01A18D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30" y="185981"/>
            <a:ext cx="7717500" cy="684511"/>
          </a:xfrm>
        </p:spPr>
        <p:txBody>
          <a:bodyPr/>
          <a:lstStyle/>
          <a:p>
            <a:r>
              <a:rPr lang="en-US" sz="3600" b="1">
                <a:latin typeface="+mj-lt"/>
              </a:rPr>
              <a:t>01. Cookie</a:t>
            </a:r>
            <a:endParaRPr lang="en-US" sz="3200" b="1">
              <a:latin typeface="+mj-lt"/>
            </a:endParaRP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5DC8220D-DB9D-C894-8B5A-B50C7764CA62}"/>
              </a:ext>
            </a:extLst>
          </p:cNvPr>
          <p:cNvSpPr/>
          <p:nvPr/>
        </p:nvSpPr>
        <p:spPr>
          <a:xfrm>
            <a:off x="5039416" y="2869615"/>
            <a:ext cx="3874547" cy="1764378"/>
          </a:xfrm>
          <a:prstGeom prst="roundRect">
            <a:avLst>
              <a:gd name="adj" fmla="val 3212"/>
            </a:avLst>
          </a:prstGeom>
          <a:solidFill>
            <a:srgbClr val="EFF6FF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F150F5-11AB-B092-A0DB-6A02E29A4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72" y="2934944"/>
            <a:ext cx="456536" cy="4565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CBF713-3462-DCA5-62AF-32F20E958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12" y="3011011"/>
            <a:ext cx="292743" cy="292743"/>
          </a:xfrm>
          <a:prstGeom prst="rect">
            <a:avLst/>
          </a:prstGeom>
        </p:spPr>
      </p:pic>
      <p:sp>
        <p:nvSpPr>
          <p:cNvPr id="23" name="TextBox 12">
            <a:extLst>
              <a:ext uri="{FF2B5EF4-FFF2-40B4-BE49-F238E27FC236}">
                <a16:creationId xmlns:a16="http://schemas.microsoft.com/office/drawing/2014/main" id="{CDD2B622-A655-14BE-B1DF-5077DC457211}"/>
              </a:ext>
            </a:extLst>
          </p:cNvPr>
          <p:cNvSpPr txBox="1"/>
          <p:nvPr/>
        </p:nvSpPr>
        <p:spPr>
          <a:xfrm>
            <a:off x="5286179" y="3438163"/>
            <a:ext cx="3537942" cy="1038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vi-VN" sz="1350">
                <a:solidFill>
                  <a:srgbClr val="334155"/>
                </a:solidFill>
              </a:rPr>
              <a:t>Là m</a:t>
            </a:r>
            <a:r>
              <a:rPr lang="vi-VN" sz="1350" b="0" i="0" u="none">
                <a:solidFill>
                  <a:srgbClr val="334155"/>
                </a:solidFill>
              </a:rPr>
              <a:t>ột lượng dữ liệu nhỏ được lưu trữ trên thiết bị người dùng, thường thông qua trình duyệt hoặc một cơ chế quản lý </a:t>
            </a:r>
            <a:r>
              <a:rPr lang="vi-VN" sz="1350" b="0" i="0" u="none" err="1">
                <a:solidFill>
                  <a:srgbClr val="334155"/>
                </a:solidFill>
              </a:rPr>
              <a:t>cookie</a:t>
            </a:r>
            <a:r>
              <a:rPr lang="vi-VN" sz="1350" b="0" i="0" u="none">
                <a:solidFill>
                  <a:srgbClr val="334155"/>
                </a:solidFill>
              </a:rPr>
              <a:t> của ứng dụng, nhằm ghi nhớ thông tin cần thiết giữa các lần tương tác với hệ thống.</a:t>
            </a:r>
            <a:endParaRPr sz="1350" b="0" i="0" u="none">
              <a:solidFill>
                <a:srgbClr val="334155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8A670C6-AA3D-E0B8-8C0D-E1F3B79ADB15}"/>
              </a:ext>
            </a:extLst>
          </p:cNvPr>
          <p:cNvSpPr/>
          <p:nvPr/>
        </p:nvSpPr>
        <p:spPr>
          <a:xfrm rot="10800000">
            <a:off x="4453446" y="3545732"/>
            <a:ext cx="402124" cy="3566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BC882CD0-4C3B-A8FD-987E-633947E72B9A}"/>
              </a:ext>
            </a:extLst>
          </p:cNvPr>
          <p:cNvSpPr txBox="1"/>
          <p:nvPr/>
        </p:nvSpPr>
        <p:spPr>
          <a:xfrm>
            <a:off x="5842445" y="3043775"/>
            <a:ext cx="186108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650" b="1"/>
              <a:t>Định nghĩa </a:t>
            </a:r>
            <a:r>
              <a:rPr lang="vi-VN" sz="1650" b="1" err="1"/>
              <a:t>Cookie</a:t>
            </a:r>
            <a:endParaRPr sz="1650" b="1" i="0" u="non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EFD9B5-55B9-5EDE-3689-1236B1EA1D67}"/>
              </a:ext>
            </a:extLst>
          </p:cNvPr>
          <p:cNvSpPr txBox="1"/>
          <p:nvPr/>
        </p:nvSpPr>
        <p:spPr>
          <a:xfrm>
            <a:off x="440770" y="1115877"/>
            <a:ext cx="1983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err="1"/>
              <a:t>Cookie</a:t>
            </a:r>
            <a:r>
              <a:rPr lang="vi-VN" sz="2400"/>
              <a:t> là gì?</a:t>
            </a:r>
            <a:endParaRPr lang="en-US" sz="2400"/>
          </a:p>
        </p:txBody>
      </p:sp>
      <p:pic>
        <p:nvPicPr>
          <p:cNvPr id="3" name="Picture 2" descr="Cookie là gì?">
            <a:extLst>
              <a:ext uri="{FF2B5EF4-FFF2-40B4-BE49-F238E27FC236}">
                <a16:creationId xmlns:a16="http://schemas.microsoft.com/office/drawing/2014/main" id="{F5316235-EE80-398A-5770-03729FE98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26" y="2036266"/>
            <a:ext cx="3685673" cy="2522850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A4A6D412-7B7A-F5C0-B781-C4DD065871AB}"/>
              </a:ext>
            </a:extLst>
          </p:cNvPr>
          <p:cNvSpPr/>
          <p:nvPr/>
        </p:nvSpPr>
        <p:spPr>
          <a:xfrm>
            <a:off x="5003412" y="604099"/>
            <a:ext cx="3946556" cy="1550165"/>
          </a:xfrm>
          <a:prstGeom prst="roundRect">
            <a:avLst>
              <a:gd name="adj" fmla="val 3212"/>
            </a:avLst>
          </a:prstGeom>
          <a:solidFill>
            <a:srgbClr val="F8FAFC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DB4033-5773-F96F-58CA-A41CF8D62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695" y="689141"/>
            <a:ext cx="456536" cy="4565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9014DC-3B30-53DB-A9D6-C2BEDD6DD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8748" y="784343"/>
            <a:ext cx="264430" cy="254973"/>
          </a:xfrm>
          <a:prstGeom prst="rect">
            <a:avLst/>
          </a:prstGeom>
        </p:spPr>
      </p:pic>
      <p:sp>
        <p:nvSpPr>
          <p:cNvPr id="18" name="TextBox 9">
            <a:extLst>
              <a:ext uri="{FF2B5EF4-FFF2-40B4-BE49-F238E27FC236}">
                <a16:creationId xmlns:a16="http://schemas.microsoft.com/office/drawing/2014/main" id="{19A178ED-F20C-0BAC-CA00-3D06069E5D02}"/>
              </a:ext>
            </a:extLst>
          </p:cNvPr>
          <p:cNvSpPr txBox="1"/>
          <p:nvPr/>
        </p:nvSpPr>
        <p:spPr>
          <a:xfrm>
            <a:off x="5834985" y="723797"/>
            <a:ext cx="2671424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50" b="1" i="0" u="none">
                <a:solidFill>
                  <a:srgbClr val="1E1B4B"/>
                </a:solidFill>
              </a:rPr>
              <a:t>Giao </a:t>
            </a:r>
            <a:r>
              <a:rPr sz="1650" b="1" i="0" u="none" err="1">
                <a:solidFill>
                  <a:srgbClr val="1E1B4B"/>
                </a:solidFill>
              </a:rPr>
              <a:t>Thức</a:t>
            </a:r>
            <a:r>
              <a:rPr sz="1650" b="1" i="0" u="none">
                <a:solidFill>
                  <a:srgbClr val="1E1B4B"/>
                </a:solidFill>
              </a:rPr>
              <a:t> HTTP Stateless</a:t>
            </a:r>
            <a:br>
              <a:rPr lang="vi-VN" sz="1650" b="1" i="0" u="none">
                <a:solidFill>
                  <a:srgbClr val="1E1B4B"/>
                </a:solidFill>
              </a:rPr>
            </a:br>
            <a:r>
              <a:rPr lang="vi-VN" sz="1100" b="1" i="0" u="none">
                <a:solidFill>
                  <a:srgbClr val="1E1B4B"/>
                </a:solidFill>
              </a:rPr>
              <a:t>(không lưu trạng thái)</a:t>
            </a:r>
            <a:endParaRPr sz="1650" b="1" i="0" u="none">
              <a:solidFill>
                <a:srgbClr val="1E1B4B"/>
              </a:solidFill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8826D083-B398-1417-4EB4-86DCB1115C82}"/>
              </a:ext>
            </a:extLst>
          </p:cNvPr>
          <p:cNvSpPr txBox="1"/>
          <p:nvPr/>
        </p:nvSpPr>
        <p:spPr>
          <a:xfrm>
            <a:off x="5232694" y="1319450"/>
            <a:ext cx="3644913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vi-VN" sz="1350">
                <a:solidFill>
                  <a:srgbClr val="475569"/>
                </a:solidFill>
              </a:rPr>
              <a:t>M</a:t>
            </a:r>
            <a:r>
              <a:rPr lang="vi-VN" sz="1350" b="0" i="0" u="none">
                <a:solidFill>
                  <a:srgbClr val="475569"/>
                </a:solidFill>
              </a:rPr>
              <a:t>ỗi HTTP </a:t>
            </a:r>
            <a:r>
              <a:rPr lang="vi-VN" sz="1350" b="0" i="0" u="none" err="1">
                <a:solidFill>
                  <a:srgbClr val="475569"/>
                </a:solidFill>
              </a:rPr>
              <a:t>request</a:t>
            </a:r>
            <a:r>
              <a:rPr lang="vi-VN" sz="1350" b="0" i="0" u="none">
                <a:solidFill>
                  <a:srgbClr val="475569"/>
                </a:solidFill>
              </a:rPr>
              <a:t> được xử lý độc lập; máy chủ không tự động biết hai </a:t>
            </a:r>
            <a:r>
              <a:rPr lang="vi-VN" sz="1350" b="0" i="0" u="none" err="1">
                <a:solidFill>
                  <a:srgbClr val="475569"/>
                </a:solidFill>
              </a:rPr>
              <a:t>request</a:t>
            </a:r>
            <a:r>
              <a:rPr lang="vi-VN" sz="1350" b="0" i="0" u="none">
                <a:solidFill>
                  <a:srgbClr val="475569"/>
                </a:solidFill>
              </a:rPr>
              <a:t> liên tiếp có phải đến từ cùng một người dùng hay không.</a:t>
            </a:r>
            <a:endParaRPr sz="1350" b="0" i="0" u="none">
              <a:solidFill>
                <a:srgbClr val="475569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F341371-B6CF-05CB-9458-1E1A2F04F2E2}"/>
              </a:ext>
            </a:extLst>
          </p:cNvPr>
          <p:cNvSpPr/>
          <p:nvPr/>
        </p:nvSpPr>
        <p:spPr>
          <a:xfrm rot="5400000">
            <a:off x="6811632" y="2302073"/>
            <a:ext cx="402124" cy="3566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7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0462-0815-6AAD-4332-CA1FE9D9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94666174-5671-6937-96D5-5C2DB73D7F6C}"/>
              </a:ext>
            </a:extLst>
          </p:cNvPr>
          <p:cNvSpPr/>
          <p:nvPr/>
        </p:nvSpPr>
        <p:spPr>
          <a:xfrm>
            <a:off x="377556" y="1523075"/>
            <a:ext cx="3874547" cy="2901690"/>
          </a:xfrm>
          <a:prstGeom prst="roundRect">
            <a:avLst>
              <a:gd name="adj" fmla="val 3212"/>
            </a:avLst>
          </a:prstGeom>
          <a:solidFill>
            <a:srgbClr val="EFF6FF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B6FBF2-A64A-7FE8-E7A6-E7C2A1736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56" y="1619395"/>
            <a:ext cx="456536" cy="4565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8BEA50-DC80-1C2C-65D4-6B8DFC596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2" y="1686291"/>
            <a:ext cx="292743" cy="292743"/>
          </a:xfrm>
          <a:prstGeom prst="rect">
            <a:avLst/>
          </a:prstGeom>
        </p:spPr>
      </p:pic>
      <p:sp>
        <p:nvSpPr>
          <p:cNvPr id="23" name="TextBox 12">
            <a:extLst>
              <a:ext uri="{FF2B5EF4-FFF2-40B4-BE49-F238E27FC236}">
                <a16:creationId xmlns:a16="http://schemas.microsoft.com/office/drawing/2014/main" id="{1B041F84-F244-B059-AA39-DB7DD44D71B2}"/>
              </a:ext>
            </a:extLst>
          </p:cNvPr>
          <p:cNvSpPr txBox="1"/>
          <p:nvPr/>
        </p:nvSpPr>
        <p:spPr>
          <a:xfrm>
            <a:off x="577006" y="2172251"/>
            <a:ext cx="3475646" cy="1984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250">
                <a:solidFill>
                  <a:srgbClr val="334155"/>
                </a:solidFill>
              </a:rPr>
              <a:t>L</a:t>
            </a:r>
            <a:r>
              <a:rPr lang="vi-VN" sz="1250" b="0" i="0" u="none">
                <a:solidFill>
                  <a:srgbClr val="334155"/>
                </a:solidFill>
              </a:rPr>
              <a:t>ưu trữ thông tin và hoạt động của người dùng trên trang </a:t>
            </a:r>
            <a:r>
              <a:rPr lang="vi-VN" sz="1250" b="0" i="0" u="none" err="1">
                <a:solidFill>
                  <a:srgbClr val="334155"/>
                </a:solidFill>
              </a:rPr>
              <a:t>web</a:t>
            </a:r>
            <a:endParaRPr lang="vi-VN" sz="1250" b="0" i="0" u="none">
              <a:solidFill>
                <a:srgbClr val="334155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250" b="0" i="0" u="none">
                <a:solidFill>
                  <a:srgbClr val="334155"/>
                </a:solidFill>
              </a:rPr>
              <a:t>Cung cấp trải nghiệm trực tuyến tốt hơn </a:t>
            </a:r>
            <a:endParaRPr lang="vi-VN" sz="1250">
              <a:solidFill>
                <a:srgbClr val="334155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250" b="0" i="0" u="none">
                <a:solidFill>
                  <a:srgbClr val="334155"/>
                </a:solidFill>
              </a:rPr>
              <a:t>Thực hiện các chức năng như lưu trữ thông tin đăng nhập, lưu trữ cài đặt cá nhân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250">
                <a:solidFill>
                  <a:srgbClr val="334155"/>
                </a:solidFill>
              </a:rPr>
              <a:t>T</a:t>
            </a:r>
            <a:r>
              <a:rPr lang="vi-VN" sz="1250" b="0" i="0" u="none">
                <a:solidFill>
                  <a:srgbClr val="334155"/>
                </a:solidFill>
              </a:rPr>
              <a:t>heo dõi hoạt động trên trang </a:t>
            </a:r>
            <a:r>
              <a:rPr lang="vi-VN" sz="1250" b="0" i="0" u="none" err="1">
                <a:solidFill>
                  <a:srgbClr val="334155"/>
                </a:solidFill>
              </a:rPr>
              <a:t>web</a:t>
            </a:r>
            <a:r>
              <a:rPr lang="vi-VN" sz="1250" b="0" i="0" u="none">
                <a:solidFill>
                  <a:srgbClr val="334155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250">
                <a:solidFill>
                  <a:srgbClr val="334155"/>
                </a:solidFill>
              </a:rPr>
              <a:t>C</a:t>
            </a:r>
            <a:r>
              <a:rPr lang="vi-VN" sz="1250" b="0" i="0" u="none">
                <a:solidFill>
                  <a:srgbClr val="334155"/>
                </a:solidFill>
              </a:rPr>
              <a:t>ung cấp quảng cáo cá nhân hóa</a:t>
            </a:r>
            <a:endParaRPr sz="1250" b="0" i="0" u="none">
              <a:solidFill>
                <a:srgbClr val="334155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2C299A0-5840-3878-66D3-6A29C252DD21}"/>
              </a:ext>
            </a:extLst>
          </p:cNvPr>
          <p:cNvSpPr/>
          <p:nvPr/>
        </p:nvSpPr>
        <p:spPr>
          <a:xfrm rot="10800000">
            <a:off x="4540015" y="1619395"/>
            <a:ext cx="402124" cy="3566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474D2262-60FD-446F-E07B-91555E9B20C1}"/>
              </a:ext>
            </a:extLst>
          </p:cNvPr>
          <p:cNvSpPr txBox="1"/>
          <p:nvPr/>
        </p:nvSpPr>
        <p:spPr>
          <a:xfrm>
            <a:off x="1228153" y="1791922"/>
            <a:ext cx="188192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650" b="1" i="0" u="none"/>
              <a:t>Tại sao cần </a:t>
            </a:r>
            <a:r>
              <a:rPr lang="vi-VN" sz="1650" b="1" i="0" u="none" err="1"/>
              <a:t>cookie</a:t>
            </a:r>
            <a:endParaRPr sz="1650" b="1" i="0" u="none"/>
          </a:p>
        </p:txBody>
      </p:sp>
      <p:pic>
        <p:nvPicPr>
          <p:cNvPr id="2" name="Picture 1" descr="Hướng dẫn cách phân biệt giữa cookie và session">
            <a:extLst>
              <a:ext uri="{FF2B5EF4-FFF2-40B4-BE49-F238E27FC236}">
                <a16:creationId xmlns:a16="http://schemas.microsoft.com/office/drawing/2014/main" id="{01991D62-3E6E-8A8E-D377-B77ED3965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052" y="696967"/>
            <a:ext cx="3789962" cy="2901690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163E95E2-C8FB-EEE0-3B6C-67CBEBAD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30" y="185981"/>
            <a:ext cx="7717500" cy="684511"/>
          </a:xfrm>
        </p:spPr>
        <p:txBody>
          <a:bodyPr/>
          <a:lstStyle/>
          <a:p>
            <a:r>
              <a:rPr lang="en-US" sz="3600" b="1">
                <a:latin typeface="+mj-lt"/>
              </a:rPr>
              <a:t>01. Cookie</a:t>
            </a:r>
            <a:endParaRPr lang="en-US" sz="32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38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B893F-F182-59BC-385B-D5F30A0F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0CEECD-7367-1286-7287-04E80084B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28733"/>
              </p:ext>
            </p:extLst>
          </p:nvPr>
        </p:nvGraphicFramePr>
        <p:xfrm>
          <a:off x="713855" y="1878947"/>
          <a:ext cx="7713453" cy="235930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06143">
                  <a:extLst>
                    <a:ext uri="{9D8B030D-6E8A-4147-A177-3AD203B41FA5}">
                      <a16:colId xmlns:a16="http://schemas.microsoft.com/office/drawing/2014/main" val="2438254149"/>
                    </a:ext>
                  </a:extLst>
                </a:gridCol>
                <a:gridCol w="2842053">
                  <a:extLst>
                    <a:ext uri="{9D8B030D-6E8A-4147-A177-3AD203B41FA5}">
                      <a16:colId xmlns:a16="http://schemas.microsoft.com/office/drawing/2014/main" val="1297407644"/>
                    </a:ext>
                  </a:extLst>
                </a:gridCol>
                <a:gridCol w="3265257">
                  <a:extLst>
                    <a:ext uri="{9D8B030D-6E8A-4147-A177-3AD203B41FA5}">
                      <a16:colId xmlns:a16="http://schemas.microsoft.com/office/drawing/2014/main" val="679082642"/>
                    </a:ext>
                  </a:extLst>
                </a:gridCol>
              </a:tblGrid>
              <a:tr h="24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err="1"/>
                        <a:t>Tiêu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chí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Web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Mobile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661812"/>
                  </a:ext>
                </a:extLst>
              </a:tr>
              <a:tr h="24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Môi trường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Trình duyệt web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Ứng dụng Android/iOS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751962"/>
                  </a:ext>
                </a:extLst>
              </a:tr>
              <a:tr h="41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Quản lý cookie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Thường do </a:t>
                      </a:r>
                      <a:r>
                        <a:rPr lang="en-US" err="1"/>
                        <a:t>trình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duyệt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quản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lý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 app hoặc thành phần web quản lý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722896"/>
                  </a:ext>
                </a:extLst>
              </a:tr>
              <a:tr h="41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Mục đích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Duy trì đăng nhập, phiên làm việc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Duy trì phiên nếu app sử dụng cookie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604493"/>
                  </a:ext>
                </a:extLst>
              </a:tr>
              <a:tr h="41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Ví dụ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Đăng nhập website, chuyển trang không cần đăng nhập lại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Đăng nhập app, tiếp tục sử dụng khi chuyển màn hình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280968"/>
                  </a:ext>
                </a:extLst>
              </a:tr>
              <a:tr h="41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Công cụ kiểm thử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Selenium, DevTools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Appium, </a:t>
                      </a:r>
                      <a:r>
                        <a:rPr lang="en-US" err="1"/>
                        <a:t>công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cụ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kiểm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thử</a:t>
                      </a:r>
                      <a:r>
                        <a:rPr lang="en-US"/>
                        <a:t>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5456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92A9B7-FA6F-C2CD-62C5-537628383AA2}"/>
              </a:ext>
            </a:extLst>
          </p:cNvPr>
          <p:cNvSpPr txBox="1"/>
          <p:nvPr/>
        </p:nvSpPr>
        <p:spPr>
          <a:xfrm>
            <a:off x="538708" y="1190053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Cookie </a:t>
            </a:r>
            <a:r>
              <a:rPr lang="en-US" sz="1800" err="1"/>
              <a:t>trong</a:t>
            </a:r>
            <a:r>
              <a:rPr lang="en-US" sz="1800"/>
              <a:t> Web App </a:t>
            </a:r>
            <a:r>
              <a:rPr lang="en-US" sz="1800" err="1"/>
              <a:t>và</a:t>
            </a:r>
            <a:r>
              <a:rPr lang="en-US" sz="1800"/>
              <a:t> Mobile App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E50C336-1D2E-8508-127D-A434A4EE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30" y="185981"/>
            <a:ext cx="7717500" cy="684511"/>
          </a:xfrm>
        </p:spPr>
        <p:txBody>
          <a:bodyPr/>
          <a:lstStyle/>
          <a:p>
            <a:r>
              <a:rPr lang="en-US" sz="3600" b="1">
                <a:latin typeface="+mj-lt"/>
              </a:rPr>
              <a:t>01. Cookie</a:t>
            </a:r>
            <a:endParaRPr lang="en-US" sz="32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2238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6D9D-BC7A-CF9B-14B0-FA932B71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rrow: Right 24">
            <a:extLst>
              <a:ext uri="{FF2B5EF4-FFF2-40B4-BE49-F238E27FC236}">
                <a16:creationId xmlns:a16="http://schemas.microsoft.com/office/drawing/2014/main" id="{637589AA-F704-DEAB-BD28-CB731C41A620}"/>
              </a:ext>
            </a:extLst>
          </p:cNvPr>
          <p:cNvSpPr/>
          <p:nvPr/>
        </p:nvSpPr>
        <p:spPr>
          <a:xfrm>
            <a:off x="483701" y="1138830"/>
            <a:ext cx="402124" cy="3566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936D46-2289-0FBC-8D81-440DE61BDC61}"/>
              </a:ext>
            </a:extLst>
          </p:cNvPr>
          <p:cNvSpPr/>
          <p:nvPr/>
        </p:nvSpPr>
        <p:spPr>
          <a:xfrm>
            <a:off x="1797709" y="2259332"/>
            <a:ext cx="3332113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BAE35E-1B4E-EAAC-B0E9-2EB1E1A36B6D}"/>
              </a:ext>
            </a:extLst>
          </p:cNvPr>
          <p:cNvSpPr/>
          <p:nvPr/>
        </p:nvSpPr>
        <p:spPr>
          <a:xfrm>
            <a:off x="1797709" y="2773682"/>
            <a:ext cx="3332113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19058F-6526-0290-3CC7-C60D71467B36}"/>
              </a:ext>
            </a:extLst>
          </p:cNvPr>
          <p:cNvSpPr/>
          <p:nvPr/>
        </p:nvSpPr>
        <p:spPr>
          <a:xfrm>
            <a:off x="1797709" y="3288032"/>
            <a:ext cx="3332113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A7A936-09FA-7474-7109-62204C222304}"/>
              </a:ext>
            </a:extLst>
          </p:cNvPr>
          <p:cNvSpPr/>
          <p:nvPr/>
        </p:nvSpPr>
        <p:spPr>
          <a:xfrm>
            <a:off x="1797709" y="3802382"/>
            <a:ext cx="3332113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8" name="table">
            <a:extLst>
              <a:ext uri="{FF2B5EF4-FFF2-40B4-BE49-F238E27FC236}">
                <a16:creationId xmlns:a16="http://schemas.microsoft.com/office/drawing/2014/main" id="{76C85DF2-1DD9-3EB5-AC21-1B84AE7B6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8" y="1907671"/>
            <a:ext cx="8330339" cy="1945192"/>
          </a:xfrm>
          <a:prstGeom prst="rect">
            <a:avLst/>
          </a:prstGeom>
        </p:spPr>
      </p:pic>
      <p:sp>
        <p:nvSpPr>
          <p:cNvPr id="30" name="TextBox 15">
            <a:extLst>
              <a:ext uri="{FF2B5EF4-FFF2-40B4-BE49-F238E27FC236}">
                <a16:creationId xmlns:a16="http://schemas.microsoft.com/office/drawing/2014/main" id="{F8110240-6D47-BBE3-8A7A-8B6F972CED5E}"/>
              </a:ext>
            </a:extLst>
          </p:cNvPr>
          <p:cNvSpPr txBox="1"/>
          <p:nvPr/>
        </p:nvSpPr>
        <p:spPr>
          <a:xfrm>
            <a:off x="1009283" y="1130070"/>
            <a:ext cx="649637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1" i="0" u="none" err="1">
                <a:solidFill>
                  <a:srgbClr val="0F172A"/>
                </a:solidFill>
              </a:rPr>
              <a:t>Cơ</a:t>
            </a:r>
            <a:r>
              <a:rPr sz="2400" b="1" i="0" u="none">
                <a:solidFill>
                  <a:srgbClr val="0F172A"/>
                </a:solidFill>
              </a:rPr>
              <a:t> </a:t>
            </a:r>
            <a:r>
              <a:rPr sz="2400" b="1" i="0" u="none" err="1">
                <a:solidFill>
                  <a:srgbClr val="0F172A"/>
                </a:solidFill>
              </a:rPr>
              <a:t>Chế</a:t>
            </a:r>
            <a:r>
              <a:rPr sz="2400" b="1" i="0" u="none">
                <a:solidFill>
                  <a:srgbClr val="0F172A"/>
                </a:solidFill>
              </a:rPr>
              <a:t> Quản Lý </a:t>
            </a:r>
            <a:r>
              <a:rPr sz="2400" b="1" i="0" u="none" err="1">
                <a:solidFill>
                  <a:srgbClr val="0F172A"/>
                </a:solidFill>
              </a:rPr>
              <a:t>Phiên</a:t>
            </a:r>
            <a:r>
              <a:rPr sz="2400" b="1" i="0" u="none">
                <a:solidFill>
                  <a:srgbClr val="0F172A"/>
                </a:solidFill>
              </a:rPr>
              <a:t>: Web vs Mobile App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2E714C-D1D1-0179-CEE2-8A44DDD1F355}"/>
              </a:ext>
            </a:extLst>
          </p:cNvPr>
          <p:cNvSpPr txBox="1"/>
          <p:nvPr/>
        </p:nvSpPr>
        <p:spPr>
          <a:xfrm>
            <a:off x="770420" y="4114800"/>
            <a:ext cx="7878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/>
              <a:t>Bản chất chung cốt lõi giữa </a:t>
            </a:r>
            <a:r>
              <a:rPr lang="vi-VN" sz="1200" err="1"/>
              <a:t>Cookie</a:t>
            </a:r>
            <a:r>
              <a:rPr lang="vi-VN" sz="1200"/>
              <a:t> trên </a:t>
            </a:r>
            <a:r>
              <a:rPr lang="vi-VN" sz="1200" err="1"/>
              <a:t>Web</a:t>
            </a:r>
            <a:r>
              <a:rPr lang="vi-VN" sz="1200"/>
              <a:t> và </a:t>
            </a:r>
            <a:r>
              <a:rPr lang="vi-VN" sz="1200" err="1"/>
              <a:t>State</a:t>
            </a:r>
            <a:r>
              <a:rPr lang="vi-VN" sz="1200"/>
              <a:t> trên </a:t>
            </a:r>
            <a:r>
              <a:rPr lang="vi-VN" sz="1200" err="1"/>
              <a:t>Mobile</a:t>
            </a:r>
            <a:r>
              <a:rPr lang="vi-VN" sz="1200"/>
              <a:t> </a:t>
            </a:r>
            <a:r>
              <a:rPr lang="vi-VN" sz="1200" err="1"/>
              <a:t>App</a:t>
            </a:r>
            <a:r>
              <a:rPr lang="vi-VN" sz="1200"/>
              <a:t> là </a:t>
            </a:r>
            <a:r>
              <a:rPr lang="vi-VN" sz="1200" b="1"/>
              <a:t>quy trình lưu giữ một mã định danh phiên (</a:t>
            </a:r>
            <a:r>
              <a:rPr lang="vi-VN" sz="1200" b="1" err="1"/>
              <a:t>Cookie</a:t>
            </a:r>
            <a:r>
              <a:rPr lang="vi-VN" sz="1200" b="1"/>
              <a:t> hoặc </a:t>
            </a:r>
            <a:r>
              <a:rPr lang="vi-VN" sz="1200" b="1" err="1"/>
              <a:t>Token</a:t>
            </a:r>
            <a:r>
              <a:rPr lang="vi-VN" sz="1200" b="1"/>
              <a:t>) tại máy khách để ghi nhớ trạng thái người dùng qua từng tương tác, và xóa sạch nó khi cần đưa ứng dụng về trạng thái ban đầu</a:t>
            </a:r>
            <a:endParaRPr lang="en-US" sz="1200" b="1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B68A9FA-40F0-E114-D3FF-186CB912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30" y="185981"/>
            <a:ext cx="7717500" cy="684511"/>
          </a:xfrm>
        </p:spPr>
        <p:txBody>
          <a:bodyPr/>
          <a:lstStyle/>
          <a:p>
            <a:r>
              <a:rPr lang="en-US" sz="3600" b="1">
                <a:latin typeface="+mj-lt"/>
              </a:rPr>
              <a:t>01. Cookie</a:t>
            </a:r>
            <a:endParaRPr lang="en-US" sz="32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2992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81A3-A3F7-2FF6-6720-5923FEAB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86" y="290042"/>
            <a:ext cx="7717500" cy="572700"/>
          </a:xfrm>
        </p:spPr>
        <p:txBody>
          <a:bodyPr/>
          <a:lstStyle/>
          <a:p>
            <a:r>
              <a:rPr lang="vi-VN" sz="3600" b="1">
                <a:latin typeface="+mn-lt"/>
              </a:rPr>
              <a:t>02. Cơ chế chờ tường minh</a:t>
            </a:r>
            <a:endParaRPr lang="en-US" sz="3600" b="1">
              <a:latin typeface="+mn-lt"/>
            </a:endParaRP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76BF8ADF-C1E1-BE85-C685-DF2A8BAA6658}"/>
              </a:ext>
            </a:extLst>
          </p:cNvPr>
          <p:cNvSpPr/>
          <p:nvPr/>
        </p:nvSpPr>
        <p:spPr>
          <a:xfrm>
            <a:off x="698489" y="1707955"/>
            <a:ext cx="3610055" cy="2200760"/>
          </a:xfrm>
          <a:prstGeom prst="roundRect">
            <a:avLst>
              <a:gd name="adj" fmla="val 31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86B6EA94-F03C-47F3-9F21-2AD4D0E244E4}"/>
              </a:ext>
            </a:extLst>
          </p:cNvPr>
          <p:cNvSpPr/>
          <p:nvPr/>
        </p:nvSpPr>
        <p:spPr>
          <a:xfrm>
            <a:off x="5049641" y="1653711"/>
            <a:ext cx="3463415" cy="2255004"/>
          </a:xfrm>
          <a:prstGeom prst="roundRect">
            <a:avLst>
              <a:gd name="adj" fmla="val 3149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736AE4E-E28F-9770-BDC2-D4D18DE76F2D}"/>
              </a:ext>
            </a:extLst>
          </p:cNvPr>
          <p:cNvSpPr txBox="1"/>
          <p:nvPr/>
        </p:nvSpPr>
        <p:spPr>
          <a:xfrm>
            <a:off x="1781054" y="1899824"/>
            <a:ext cx="311028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>
                <a:solidFill>
                  <a:srgbClr val="DC2626"/>
                </a:solidFill>
              </a:rPr>
              <a:t>KHÁI </a:t>
            </a:r>
            <a:r>
              <a:rPr sz="1400" b="1" i="0" u="none">
                <a:solidFill>
                  <a:srgbClr val="DC2626"/>
                </a:solidFill>
              </a:rPr>
              <a:t>NIỆM</a:t>
            </a:r>
            <a:endParaRPr sz="1600" b="1" i="0" u="none">
              <a:solidFill>
                <a:srgbClr val="DC2626"/>
              </a:solidFill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E9A05B3-AEDA-4D14-9EE7-6527C20D6347}"/>
              </a:ext>
            </a:extLst>
          </p:cNvPr>
          <p:cNvSpPr txBox="1"/>
          <p:nvPr/>
        </p:nvSpPr>
        <p:spPr>
          <a:xfrm>
            <a:off x="899605" y="2235253"/>
            <a:ext cx="3207823" cy="1252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vi-VN" sz="1400" b="0" i="0" u="none" err="1">
                <a:solidFill>
                  <a:srgbClr val="475569"/>
                </a:solidFill>
              </a:rPr>
              <a:t>Explicit</a:t>
            </a:r>
            <a:r>
              <a:rPr lang="vi-VN" sz="1400" b="0" i="0" u="none">
                <a:solidFill>
                  <a:srgbClr val="475569"/>
                </a:solidFill>
              </a:rPr>
              <a:t> </a:t>
            </a:r>
            <a:r>
              <a:rPr lang="vi-VN" sz="1400" b="0" i="0" u="none" err="1">
                <a:solidFill>
                  <a:srgbClr val="475569"/>
                </a:solidFill>
              </a:rPr>
              <a:t>Wait</a:t>
            </a:r>
            <a:r>
              <a:rPr lang="vi-VN" sz="1400" b="0" i="0" u="none">
                <a:solidFill>
                  <a:srgbClr val="475569"/>
                </a:solidFill>
              </a:rPr>
              <a:t> là cơ chế yêu cầu </a:t>
            </a:r>
            <a:r>
              <a:rPr lang="vi-VN" sz="1400" b="0" i="0" u="none" err="1">
                <a:solidFill>
                  <a:srgbClr val="475569"/>
                </a:solidFill>
              </a:rPr>
              <a:t>Selenium</a:t>
            </a:r>
            <a:r>
              <a:rPr lang="vi-VN" sz="1400" b="0" i="0" u="none">
                <a:solidFill>
                  <a:srgbClr val="475569"/>
                </a:solidFill>
              </a:rPr>
              <a:t> chờ đến khi một điều kiện cụ thể được thỏa mãn hoặc hết thời gian chờ tối đa trước khi tiếp tục thực hiện chương trình</a:t>
            </a:r>
            <a:endParaRPr sz="1400" b="0" i="0" u="none">
              <a:solidFill>
                <a:srgbClr val="475569"/>
              </a:solidFill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3D6FD13B-D7E8-7AA8-E9EC-3E69A277D026}"/>
              </a:ext>
            </a:extLst>
          </p:cNvPr>
          <p:cNvSpPr txBox="1"/>
          <p:nvPr/>
        </p:nvSpPr>
        <p:spPr>
          <a:xfrm>
            <a:off x="5818915" y="1899823"/>
            <a:ext cx="189993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400" b="1" i="0" u="none">
                <a:solidFill>
                  <a:srgbClr val="0284C7"/>
                </a:solidFill>
              </a:rPr>
              <a:t>CÁCH HOẠT ĐỘNG</a:t>
            </a:r>
            <a:endParaRPr sz="1400" b="1" i="0" u="none">
              <a:solidFill>
                <a:srgbClr val="0284C7"/>
              </a:solidFill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3BEA0F2C-94F5-DC90-A938-D4AECF76667A}"/>
              </a:ext>
            </a:extLst>
          </p:cNvPr>
          <p:cNvSpPr txBox="1"/>
          <p:nvPr/>
        </p:nvSpPr>
        <p:spPr>
          <a:xfrm>
            <a:off x="5112212" y="2235253"/>
            <a:ext cx="3338271" cy="150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025"/>
              </a:lnSpc>
              <a:buFont typeface="Courier New" panose="02070309020205020404" pitchFamily="49" charset="0"/>
              <a:buChar char="o"/>
            </a:pPr>
            <a:r>
              <a:rPr lang="vi-VN" sz="1200" b="0" i="0" u="none" err="1">
                <a:solidFill>
                  <a:srgbClr val="334155"/>
                </a:solidFill>
              </a:rPr>
              <a:t>WebDriverWait</a:t>
            </a:r>
            <a:r>
              <a:rPr lang="vi-VN" sz="1200" b="0" i="0" u="none">
                <a:solidFill>
                  <a:srgbClr val="334155"/>
                </a:solidFill>
              </a:rPr>
              <a:t>: thiết lập thời gian chờ tối đa.</a:t>
            </a:r>
          </a:p>
          <a:p>
            <a:pPr marL="285750" indent="-285750" algn="l">
              <a:lnSpc>
                <a:spcPts val="2025"/>
              </a:lnSpc>
              <a:buFont typeface="Courier New" panose="02070309020205020404" pitchFamily="49" charset="0"/>
              <a:buChar char="o"/>
            </a:pPr>
            <a:r>
              <a:rPr lang="vi-VN" sz="1200" b="0" i="0" u="none" err="1">
                <a:solidFill>
                  <a:srgbClr val="334155"/>
                </a:solidFill>
              </a:rPr>
              <a:t>Expected</a:t>
            </a:r>
            <a:r>
              <a:rPr lang="vi-VN" sz="1200" b="0" i="0" u="none">
                <a:solidFill>
                  <a:srgbClr val="334155"/>
                </a:solidFill>
              </a:rPr>
              <a:t> </a:t>
            </a:r>
            <a:r>
              <a:rPr lang="vi-VN" sz="1200" b="0" i="0" u="none" err="1">
                <a:solidFill>
                  <a:srgbClr val="334155"/>
                </a:solidFill>
              </a:rPr>
              <a:t>Conditions</a:t>
            </a:r>
            <a:r>
              <a:rPr lang="vi-VN" sz="1200" b="0" i="0" u="none">
                <a:solidFill>
                  <a:srgbClr val="334155"/>
                </a:solidFill>
              </a:rPr>
              <a:t> (EC): xác định điều kiện cần thỏa mãn.</a:t>
            </a:r>
          </a:p>
          <a:p>
            <a:pPr marL="285750" indent="-285750" algn="l">
              <a:lnSpc>
                <a:spcPts val="2025"/>
              </a:lnSpc>
              <a:buFont typeface="Courier New" panose="02070309020205020404" pitchFamily="49" charset="0"/>
              <a:buChar char="o"/>
            </a:pPr>
            <a:r>
              <a:rPr lang="vi-VN" sz="1200" b="0" i="0" u="none" err="1">
                <a:solidFill>
                  <a:srgbClr val="334155"/>
                </a:solidFill>
              </a:rPr>
              <a:t>Selenium</a:t>
            </a:r>
            <a:r>
              <a:rPr lang="vi-VN" sz="1200" b="0" i="0" u="none">
                <a:solidFill>
                  <a:srgbClr val="334155"/>
                </a:solidFill>
              </a:rPr>
              <a:t> mặc định kiểm tra điều kiện mỗi 500 </a:t>
            </a:r>
            <a:r>
              <a:rPr lang="vi-VN" sz="1200" b="0" i="0" u="none" err="1">
                <a:solidFill>
                  <a:srgbClr val="334155"/>
                </a:solidFill>
              </a:rPr>
              <a:t>ms</a:t>
            </a:r>
            <a:r>
              <a:rPr lang="vi-VN" sz="1200" b="0" i="0" u="none">
                <a:solidFill>
                  <a:srgbClr val="334155"/>
                </a:solidFill>
              </a:rPr>
              <a:t>. Nếu hết thời gian mà điều kiện chưa đạt, sẽ phát sinh </a:t>
            </a:r>
            <a:r>
              <a:rPr lang="vi-VN" sz="1200" b="0" i="0" u="none" err="1">
                <a:solidFill>
                  <a:srgbClr val="334155"/>
                </a:solidFill>
              </a:rPr>
              <a:t>TimeoutException</a:t>
            </a:r>
            <a:endParaRPr lang="vi-VN" sz="1200" b="0" i="0" u="none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64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2661-B1DB-5EB5-4F4F-A2BB68CA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D4D4-950E-43A1-00DF-68CCA188E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86" y="290042"/>
            <a:ext cx="7717500" cy="572700"/>
          </a:xfrm>
        </p:spPr>
        <p:txBody>
          <a:bodyPr/>
          <a:lstStyle/>
          <a:p>
            <a:r>
              <a:rPr lang="vi-VN" sz="3600" b="1">
                <a:latin typeface="+mn-lt"/>
              </a:rPr>
              <a:t>02. Cơ chế chờ tường minh</a:t>
            </a:r>
            <a:endParaRPr lang="en-US" sz="3600" b="1">
              <a:latin typeface="+mn-lt"/>
            </a:endParaRPr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BAA723E6-ACA4-C2CC-B513-9A7AE2A1AF06}"/>
              </a:ext>
            </a:extLst>
          </p:cNvPr>
          <p:cNvSpPr/>
          <p:nvPr/>
        </p:nvSpPr>
        <p:spPr>
          <a:xfrm>
            <a:off x="546509" y="1778495"/>
            <a:ext cx="4057650" cy="671513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A14A2CCA-71A1-845D-1E67-290ECE8138BE}"/>
              </a:ext>
            </a:extLst>
          </p:cNvPr>
          <p:cNvSpPr/>
          <p:nvPr/>
        </p:nvSpPr>
        <p:spPr>
          <a:xfrm>
            <a:off x="4718459" y="1778495"/>
            <a:ext cx="4057650" cy="671513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F40F0FCE-C48B-984F-FF48-D75ED51E44DD}"/>
              </a:ext>
            </a:extLst>
          </p:cNvPr>
          <p:cNvSpPr/>
          <p:nvPr/>
        </p:nvSpPr>
        <p:spPr>
          <a:xfrm>
            <a:off x="546509" y="2564307"/>
            <a:ext cx="4064794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20B9B40C-85A9-1C4B-80AD-CA5D1B8DD735}"/>
              </a:ext>
            </a:extLst>
          </p:cNvPr>
          <p:cNvSpPr/>
          <p:nvPr/>
        </p:nvSpPr>
        <p:spPr>
          <a:xfrm>
            <a:off x="4725603" y="2564307"/>
            <a:ext cx="4050506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21C0CF-E252-D798-5ED6-9E751AF8B7FA}"/>
              </a:ext>
            </a:extLst>
          </p:cNvPr>
          <p:cNvSpPr txBox="1"/>
          <p:nvPr/>
        </p:nvSpPr>
        <p:spPr>
          <a:xfrm>
            <a:off x="689384" y="1921370"/>
            <a:ext cx="3843338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 err="1">
                <a:solidFill>
                  <a:srgbClr val="2563EB"/>
                </a:solidFill>
                <a:latin typeface="+mn-lt"/>
              </a:rPr>
              <a:t>presence_of_element_located</a:t>
            </a:r>
            <a:endParaRPr sz="788" b="1">
              <a:solidFill>
                <a:srgbClr val="2563EB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CC5D9E-3A03-7DDE-36B1-CCC4116E8C81}"/>
              </a:ext>
            </a:extLst>
          </p:cNvPr>
          <p:cNvSpPr txBox="1"/>
          <p:nvPr/>
        </p:nvSpPr>
        <p:spPr>
          <a:xfrm>
            <a:off x="4861334" y="1921370"/>
            <a:ext cx="3843338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 err="1">
                <a:solidFill>
                  <a:srgbClr val="059669"/>
                </a:solidFill>
                <a:latin typeface="+mn-lt"/>
              </a:rPr>
              <a:t>visibility_of_element_located</a:t>
            </a:r>
            <a:endParaRPr sz="788" b="1">
              <a:solidFill>
                <a:srgbClr val="059669"/>
              </a:solidFill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B5FDBC-F5BE-A65A-9CD0-441282FAF66A}"/>
              </a:ext>
            </a:extLst>
          </p:cNvPr>
          <p:cNvSpPr txBox="1"/>
          <p:nvPr/>
        </p:nvSpPr>
        <p:spPr>
          <a:xfrm>
            <a:off x="689385" y="2707182"/>
            <a:ext cx="3850481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 err="1">
                <a:solidFill>
                  <a:srgbClr val="0891B2"/>
                </a:solidFill>
                <a:latin typeface="+mn-lt"/>
              </a:rPr>
              <a:t>invisibility_of_element_located</a:t>
            </a:r>
            <a:endParaRPr sz="788" b="1">
              <a:solidFill>
                <a:srgbClr val="0891B2"/>
              </a:solidFill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91F91B-A353-2212-B084-55A6E8434AE9}"/>
              </a:ext>
            </a:extLst>
          </p:cNvPr>
          <p:cNvSpPr txBox="1"/>
          <p:nvPr/>
        </p:nvSpPr>
        <p:spPr>
          <a:xfrm>
            <a:off x="4868478" y="2707182"/>
            <a:ext cx="3836194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 err="1">
                <a:solidFill>
                  <a:srgbClr val="D97706"/>
                </a:solidFill>
                <a:latin typeface="+mn-lt"/>
              </a:rPr>
              <a:t>element_to_be_clickable</a:t>
            </a:r>
            <a:endParaRPr sz="788" b="1">
              <a:solidFill>
                <a:srgbClr val="D97706"/>
              </a:solidFill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840EA-B5DD-2BEB-D723-6A6120577CA8}"/>
              </a:ext>
            </a:extLst>
          </p:cNvPr>
          <p:cNvSpPr txBox="1"/>
          <p:nvPr/>
        </p:nvSpPr>
        <p:spPr>
          <a:xfrm>
            <a:off x="696528" y="2142826"/>
            <a:ext cx="2521524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 err="1">
                <a:solidFill>
                  <a:srgbClr val="475569"/>
                </a:solidFill>
                <a:latin typeface="+mn-lt"/>
              </a:rPr>
              <a:t>Chờ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phần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tử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xuất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hiện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trong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cấu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trúc</a:t>
            </a:r>
            <a:r>
              <a:rPr sz="956">
                <a:solidFill>
                  <a:srgbClr val="475569"/>
                </a:solidFill>
                <a:latin typeface="+mn-lt"/>
              </a:rPr>
              <a:t> DOM/UI.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C08E7-0428-75FB-2B9F-99936AA4FFE0}"/>
              </a:ext>
            </a:extLst>
          </p:cNvPr>
          <p:cNvSpPr txBox="1"/>
          <p:nvPr/>
        </p:nvSpPr>
        <p:spPr>
          <a:xfrm>
            <a:off x="4868478" y="2142826"/>
            <a:ext cx="2096728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 err="1">
                <a:solidFill>
                  <a:srgbClr val="475569"/>
                </a:solidFill>
                <a:latin typeface="+mn-lt"/>
              </a:rPr>
              <a:t>Chờ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phần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tử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hiển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thị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rõ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trên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màn</a:t>
            </a:r>
            <a:r>
              <a:rPr sz="956">
                <a:solidFill>
                  <a:srgbClr val="475569"/>
                </a:solidFill>
                <a:latin typeface="+mn-lt"/>
              </a:rPr>
              <a:t> </a:t>
            </a:r>
            <a:r>
              <a:rPr sz="956" err="1">
                <a:solidFill>
                  <a:srgbClr val="475569"/>
                </a:solidFill>
                <a:latin typeface="+mn-lt"/>
              </a:rPr>
              <a:t>hình</a:t>
            </a:r>
            <a:r>
              <a:rPr sz="956">
                <a:solidFill>
                  <a:srgbClr val="475569"/>
                </a:solidFill>
                <a:latin typeface="+mn-lt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82898-E200-8F80-520D-A309F8E052A3}"/>
              </a:ext>
            </a:extLst>
          </p:cNvPr>
          <p:cNvSpPr txBox="1"/>
          <p:nvPr/>
        </p:nvSpPr>
        <p:spPr>
          <a:xfrm>
            <a:off x="703672" y="2935782"/>
            <a:ext cx="3113032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 b="1" err="1">
                <a:solidFill>
                  <a:srgbClr val="5A6779"/>
                </a:solidFill>
                <a:latin typeface="+mn-lt"/>
              </a:rPr>
              <a:t>Chờ</a:t>
            </a:r>
            <a:r>
              <a:rPr sz="956" b="1">
                <a:solidFill>
                  <a:srgbClr val="5A6779"/>
                </a:solidFill>
                <a:latin typeface="+mn-lt"/>
              </a:rPr>
              <a:t> 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phần</a:t>
            </a:r>
            <a:r>
              <a:rPr sz="956" b="1">
                <a:solidFill>
                  <a:srgbClr val="5A6779"/>
                </a:solidFill>
                <a:latin typeface="+mn-lt"/>
              </a:rPr>
              <a:t> 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tử</a:t>
            </a:r>
            <a:r>
              <a:rPr sz="956" b="1">
                <a:solidFill>
                  <a:srgbClr val="5A6779"/>
                </a:solidFill>
                <a:latin typeface="+mn-lt"/>
              </a:rPr>
              <a:t> 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ẩn</a:t>
            </a:r>
            <a:r>
              <a:rPr sz="956" b="1">
                <a:solidFill>
                  <a:srgbClr val="5A6779"/>
                </a:solidFill>
                <a:latin typeface="+mn-lt"/>
              </a:rPr>
              <a:t>/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biến</a:t>
            </a:r>
            <a:r>
              <a:rPr sz="956" b="1">
                <a:solidFill>
                  <a:srgbClr val="5A6779"/>
                </a:solidFill>
                <a:latin typeface="+mn-lt"/>
              </a:rPr>
              <a:t> 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mất</a:t>
            </a:r>
            <a:r>
              <a:rPr sz="956" b="1">
                <a:solidFill>
                  <a:srgbClr val="5A6779"/>
                </a:solidFill>
                <a:latin typeface="+mn-lt"/>
              </a:rPr>
              <a:t> 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hoàn</a:t>
            </a:r>
            <a:r>
              <a:rPr sz="956" b="1">
                <a:solidFill>
                  <a:srgbClr val="5A6779"/>
                </a:solidFill>
                <a:latin typeface="+mn-lt"/>
              </a:rPr>
              <a:t> 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toàn</a:t>
            </a:r>
            <a:r>
              <a:rPr sz="956" b="1">
                <a:solidFill>
                  <a:srgbClr val="5A6779"/>
                </a:solidFill>
                <a:latin typeface="+mn-lt"/>
              </a:rPr>
              <a:t> (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Cốt</a:t>
            </a:r>
            <a:r>
              <a:rPr sz="956" b="1">
                <a:solidFill>
                  <a:srgbClr val="5A6779"/>
                </a:solidFill>
                <a:latin typeface="+mn-lt"/>
              </a:rPr>
              <a:t> </a:t>
            </a:r>
            <a:r>
              <a:rPr sz="956" b="1" err="1">
                <a:solidFill>
                  <a:srgbClr val="5A6779"/>
                </a:solidFill>
                <a:latin typeface="+mn-lt"/>
              </a:rPr>
              <a:t>lõi</a:t>
            </a:r>
            <a:r>
              <a:rPr sz="956" b="1">
                <a:solidFill>
                  <a:srgbClr val="5A6779"/>
                </a:solidFill>
                <a:latin typeface="+mn-lt"/>
              </a:rPr>
              <a:t> Task A2).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98DAF9-9AC0-9A6F-9DA4-34B207846998}"/>
              </a:ext>
            </a:extLst>
          </p:cNvPr>
          <p:cNvSpPr txBox="1"/>
          <p:nvPr/>
        </p:nvSpPr>
        <p:spPr>
          <a:xfrm>
            <a:off x="4875622" y="2928639"/>
            <a:ext cx="2314736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>
                <a:solidFill>
                  <a:srgbClr val="475569"/>
                </a:solidFill>
                <a:latin typeface="+mn-lt"/>
              </a:rPr>
              <a:t>Chờ phần tử sẵn sàng nhận thao tác click.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53C28C-6D2F-4203-5EC9-8E4C956DFD26}"/>
              </a:ext>
            </a:extLst>
          </p:cNvPr>
          <p:cNvSpPr txBox="1"/>
          <p:nvPr/>
        </p:nvSpPr>
        <p:spPr>
          <a:xfrm>
            <a:off x="546509" y="1253476"/>
            <a:ext cx="397544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b="1">
                <a:solidFill>
                  <a:srgbClr val="0F172A"/>
                </a:solidFill>
                <a:latin typeface="+mn-lt"/>
              </a:rPr>
              <a:t>Các </a:t>
            </a:r>
            <a:r>
              <a:rPr b="1" err="1">
                <a:solidFill>
                  <a:srgbClr val="0F172A"/>
                </a:solidFill>
                <a:latin typeface="+mn-lt"/>
              </a:rPr>
              <a:t>Điều</a:t>
            </a:r>
            <a:r>
              <a:rPr b="1">
                <a:solidFill>
                  <a:srgbClr val="0F172A"/>
                </a:solidFill>
                <a:latin typeface="+mn-lt"/>
              </a:rPr>
              <a:t> </a:t>
            </a:r>
            <a:r>
              <a:rPr b="1" err="1">
                <a:solidFill>
                  <a:srgbClr val="0F172A"/>
                </a:solidFill>
                <a:latin typeface="+mn-lt"/>
              </a:rPr>
              <a:t>Kiện</a:t>
            </a:r>
            <a:r>
              <a:rPr b="1">
                <a:solidFill>
                  <a:srgbClr val="0F172A"/>
                </a:solidFill>
                <a:latin typeface="+mn-lt"/>
              </a:rPr>
              <a:t> </a:t>
            </a:r>
            <a:r>
              <a:rPr b="1" err="1">
                <a:solidFill>
                  <a:srgbClr val="0F172A"/>
                </a:solidFill>
                <a:latin typeface="+mn-lt"/>
              </a:rPr>
              <a:t>Chờ</a:t>
            </a:r>
            <a:r>
              <a:rPr b="1">
                <a:solidFill>
                  <a:srgbClr val="0F172A"/>
                </a:solidFill>
                <a:latin typeface="+mn-lt"/>
              </a:rPr>
              <a:t> </a:t>
            </a:r>
            <a:r>
              <a:rPr b="1" err="1">
                <a:solidFill>
                  <a:srgbClr val="0F172A"/>
                </a:solidFill>
                <a:latin typeface="+mn-lt"/>
              </a:rPr>
              <a:t>Phổ</a:t>
            </a:r>
            <a:r>
              <a:rPr b="1">
                <a:solidFill>
                  <a:srgbClr val="0F172A"/>
                </a:solidFill>
                <a:latin typeface="+mn-lt"/>
              </a:rPr>
              <a:t> </a:t>
            </a:r>
            <a:r>
              <a:rPr b="1" err="1">
                <a:solidFill>
                  <a:srgbClr val="0F172A"/>
                </a:solidFill>
                <a:latin typeface="+mn-lt"/>
              </a:rPr>
              <a:t>Biến</a:t>
            </a:r>
            <a:r>
              <a:rPr b="1">
                <a:solidFill>
                  <a:srgbClr val="0F172A"/>
                </a:solidFill>
                <a:latin typeface="+mn-lt"/>
              </a:rPr>
              <a:t> Trong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8A145-4F7A-27B3-3BD5-0EDBA4099D3A}"/>
              </a:ext>
            </a:extLst>
          </p:cNvPr>
          <p:cNvSpPr txBox="1"/>
          <p:nvPr/>
        </p:nvSpPr>
        <p:spPr>
          <a:xfrm>
            <a:off x="457200" y="3618855"/>
            <a:ext cx="7415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/>
              <a:t>Custom Wait Conditions: </a:t>
            </a:r>
            <a:r>
              <a:rPr lang="en-US"/>
              <a:t>Cho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nghĩa</a:t>
            </a:r>
            <a:r>
              <a:rPr lang="en-US"/>
              <a:t> </a:t>
            </a:r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kiện</a:t>
            </a:r>
            <a:r>
              <a:rPr lang="en-US"/>
              <a:t> </a:t>
            </a:r>
            <a:r>
              <a:rPr lang="en-US" err="1"/>
              <a:t>chờ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kiện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sẵn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đáp</a:t>
            </a:r>
            <a:r>
              <a:rPr lang="en-US"/>
              <a:t>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yêu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922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5342-6C27-7A94-6ABE-3AD038F2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30FB-C10A-9357-871F-6552EA65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0042"/>
            <a:ext cx="9144000" cy="572700"/>
          </a:xfrm>
        </p:spPr>
        <p:txBody>
          <a:bodyPr/>
          <a:lstStyle/>
          <a:p>
            <a:r>
              <a:rPr lang="vi-VN" sz="2400" b="1">
                <a:latin typeface="+mn-lt"/>
              </a:rPr>
              <a:t>03. </a:t>
            </a:r>
            <a:r>
              <a:rPr lang="vi-VN" sz="2400" b="1" err="1">
                <a:latin typeface="+mn-lt"/>
              </a:rPr>
              <a:t>Desired</a:t>
            </a:r>
            <a:r>
              <a:rPr lang="vi-VN" sz="2400" b="1">
                <a:latin typeface="+mn-lt"/>
              </a:rPr>
              <a:t> </a:t>
            </a:r>
            <a:r>
              <a:rPr lang="vi-VN" sz="2400" b="1" err="1">
                <a:latin typeface="+mn-lt"/>
              </a:rPr>
              <a:t>Capabilities</a:t>
            </a:r>
            <a:r>
              <a:rPr lang="vi-VN" sz="2400" b="1">
                <a:latin typeface="+mn-lt"/>
              </a:rPr>
              <a:t> - Thiết lập thuộc tính mong muốn</a:t>
            </a:r>
            <a:endParaRPr lang="en-US" sz="2400" b="1">
              <a:latin typeface="+mn-lt"/>
            </a:endParaRP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5100F0E3-B06D-0B5F-B724-3E6DB510038D}"/>
              </a:ext>
            </a:extLst>
          </p:cNvPr>
          <p:cNvSpPr/>
          <p:nvPr/>
        </p:nvSpPr>
        <p:spPr>
          <a:xfrm>
            <a:off x="385010" y="1737970"/>
            <a:ext cx="3948092" cy="1861965"/>
          </a:xfrm>
          <a:prstGeom prst="roundRect">
            <a:avLst>
              <a:gd name="adj" fmla="val 73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4D6F6295-D329-302A-BF72-BBE30B8D910B}"/>
              </a:ext>
            </a:extLst>
          </p:cNvPr>
          <p:cNvSpPr/>
          <p:nvPr/>
        </p:nvSpPr>
        <p:spPr>
          <a:xfrm>
            <a:off x="4706951" y="1737970"/>
            <a:ext cx="3948092" cy="1861965"/>
          </a:xfrm>
          <a:prstGeom prst="roundRect">
            <a:avLst>
              <a:gd name="adj" fmla="val 73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51B38-6D95-BCE5-663F-CBE584CE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21" y="2072949"/>
            <a:ext cx="374414" cy="332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6E47A9-71F7-81B3-7400-DC8CE4995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502" y="2089900"/>
            <a:ext cx="252076" cy="293759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2FACEA75-CEFA-CA89-A0EA-13E58555DD40}"/>
              </a:ext>
            </a:extLst>
          </p:cNvPr>
          <p:cNvSpPr txBox="1"/>
          <p:nvPr/>
        </p:nvSpPr>
        <p:spPr>
          <a:xfrm>
            <a:off x="477793" y="1197721"/>
            <a:ext cx="38553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i="0" u="none">
                <a:solidFill>
                  <a:srgbClr val="0F172A"/>
                </a:solidFill>
                <a:latin typeface="Plus Jakarta Sans"/>
              </a:rPr>
              <a:t>Automation Session </a:t>
            </a:r>
            <a:r>
              <a:rPr sz="2000" i="0" u="none" err="1">
                <a:solidFill>
                  <a:srgbClr val="0F172A"/>
                </a:solidFill>
                <a:latin typeface="Plus Jakarta Sans"/>
              </a:rPr>
              <a:t>là</a:t>
            </a:r>
            <a:r>
              <a:rPr sz="20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2000" i="0" u="none" err="1">
                <a:solidFill>
                  <a:srgbClr val="0F172A"/>
                </a:solidFill>
                <a:latin typeface="Plus Jakarta Sans"/>
              </a:rPr>
              <a:t>gì</a:t>
            </a:r>
            <a:r>
              <a:rPr sz="2000" i="0" u="none">
                <a:solidFill>
                  <a:srgbClr val="0F172A"/>
                </a:solidFill>
                <a:latin typeface="Plus Jakarta Sans"/>
              </a:rPr>
              <a:t>?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C1DCADE-3565-3EE2-D255-8D6D918D2862}"/>
              </a:ext>
            </a:extLst>
          </p:cNvPr>
          <p:cNvSpPr txBox="1"/>
          <p:nvPr/>
        </p:nvSpPr>
        <p:spPr>
          <a:xfrm>
            <a:off x="1055974" y="2149122"/>
            <a:ext cx="338107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50" b="1" i="0" u="none" err="1">
                <a:solidFill>
                  <a:srgbClr val="0F172A"/>
                </a:solidFill>
                <a:latin typeface="Plus Jakarta Sans"/>
              </a:rPr>
              <a:t>Ngữ</a:t>
            </a:r>
            <a:r>
              <a:rPr sz="1650" b="1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650" b="1" i="0" u="none" err="1">
                <a:solidFill>
                  <a:srgbClr val="0F172A"/>
                </a:solidFill>
                <a:latin typeface="Plus Jakarta Sans"/>
              </a:rPr>
              <a:t>cảnh</a:t>
            </a:r>
            <a:r>
              <a:rPr sz="1650" b="1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650" b="1" i="0" u="none" err="1">
                <a:solidFill>
                  <a:srgbClr val="0F172A"/>
                </a:solidFill>
                <a:latin typeface="Plus Jakarta Sans"/>
              </a:rPr>
              <a:t>độc</a:t>
            </a:r>
            <a:r>
              <a:rPr sz="1650" b="1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650" b="1" i="0" u="none" err="1">
                <a:solidFill>
                  <a:srgbClr val="0F172A"/>
                </a:solidFill>
                <a:latin typeface="Plus Jakarta Sans"/>
              </a:rPr>
              <a:t>lập</a:t>
            </a:r>
            <a:r>
              <a:rPr sz="1650" b="1" i="0" u="none">
                <a:solidFill>
                  <a:srgbClr val="0F172A"/>
                </a:solidFill>
                <a:latin typeface="Plus Jakarta Sans"/>
              </a:rPr>
              <a:t> (Session Context)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F6BFB76-D483-946F-2287-A9D948AF0BA8}"/>
              </a:ext>
            </a:extLst>
          </p:cNvPr>
          <p:cNvSpPr txBox="1"/>
          <p:nvPr/>
        </p:nvSpPr>
        <p:spPr>
          <a:xfrm>
            <a:off x="690609" y="2545830"/>
            <a:ext cx="3240791" cy="710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920"/>
              </a:lnSpc>
            </a:pP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Mọi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kịch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bản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Automation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bắt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buộc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phải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chạy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trong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môi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trường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phiên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làm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việc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(Session)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riêng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biệt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do Server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quản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lý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C128B3A-EE88-9B99-3E77-F602354E83F6}"/>
              </a:ext>
            </a:extLst>
          </p:cNvPr>
          <p:cNvSpPr txBox="1"/>
          <p:nvPr/>
        </p:nvSpPr>
        <p:spPr>
          <a:xfrm>
            <a:off x="5534786" y="2121898"/>
            <a:ext cx="2159356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Định </a:t>
            </a:r>
            <a:r>
              <a:rPr sz="1650" b="1" i="0" u="none" err="1">
                <a:solidFill>
                  <a:srgbClr val="0F172A"/>
                </a:solidFill>
                <a:latin typeface="Plus Jakarta Sans"/>
              </a:rPr>
              <a:t>danh</a:t>
            </a:r>
            <a:r>
              <a:rPr sz="1650" b="1" i="0" u="none">
                <a:solidFill>
                  <a:srgbClr val="0F172A"/>
                </a:solidFill>
                <a:latin typeface="Plus Jakarta Sans"/>
              </a:rPr>
              <a:t> Session ID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FFA0C1D-401B-365A-B598-7E0643E15EA1}"/>
              </a:ext>
            </a:extLst>
          </p:cNvPr>
          <p:cNvSpPr txBox="1"/>
          <p:nvPr/>
        </p:nvSpPr>
        <p:spPr>
          <a:xfrm>
            <a:off x="5158162" y="2571750"/>
            <a:ext cx="3496881" cy="467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920"/>
              </a:lnSpc>
            </a:pP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Mã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định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danh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duy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nhất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do Server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trả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về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bắt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buộc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kèm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theo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trong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tất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cả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các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request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lệnh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tương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tác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về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err="1">
                <a:solidFill>
                  <a:srgbClr val="475569"/>
                </a:solidFill>
                <a:latin typeface="Plus Jakarta Sans"/>
              </a:rPr>
              <a:t>sau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523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21DA-D0A7-0622-5E47-9C5644A4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2">
            <a:extLst>
              <a:ext uri="{FF2B5EF4-FFF2-40B4-BE49-F238E27FC236}">
                <a16:creationId xmlns:a16="http://schemas.microsoft.com/office/drawing/2014/main" id="{D4621E73-5163-9981-F7BD-93C3185875F0}"/>
              </a:ext>
            </a:extLst>
          </p:cNvPr>
          <p:cNvSpPr/>
          <p:nvPr/>
        </p:nvSpPr>
        <p:spPr>
          <a:xfrm>
            <a:off x="5072481" y="1595566"/>
            <a:ext cx="2897643" cy="2594221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7321C-E8E3-6DFB-9C09-EC08725EC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0042"/>
            <a:ext cx="8723870" cy="572700"/>
          </a:xfrm>
        </p:spPr>
        <p:txBody>
          <a:bodyPr/>
          <a:lstStyle/>
          <a:p>
            <a:r>
              <a:rPr lang="vi-VN" sz="2400" b="1">
                <a:latin typeface="+mn-lt"/>
              </a:rPr>
              <a:t>03. </a:t>
            </a:r>
            <a:r>
              <a:rPr lang="vi-VN" sz="2400" b="1" err="1">
                <a:latin typeface="+mn-lt"/>
              </a:rPr>
              <a:t>Desired</a:t>
            </a:r>
            <a:r>
              <a:rPr lang="vi-VN" sz="2400" b="1">
                <a:latin typeface="+mn-lt"/>
              </a:rPr>
              <a:t> </a:t>
            </a:r>
            <a:r>
              <a:rPr lang="vi-VN" sz="2400" b="1" err="1">
                <a:latin typeface="+mn-lt"/>
              </a:rPr>
              <a:t>Capabilities</a:t>
            </a:r>
            <a:r>
              <a:rPr lang="vi-VN" sz="2400" b="1">
                <a:latin typeface="+mn-lt"/>
              </a:rPr>
              <a:t> - Thiết lập thuộc tính mong muốn</a:t>
            </a:r>
            <a:endParaRPr lang="en-US" sz="2400" b="1">
              <a:latin typeface="+mn-lt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6C61FEF5-408E-EC29-1E2C-F6A52F71F270}"/>
              </a:ext>
            </a:extLst>
          </p:cNvPr>
          <p:cNvSpPr/>
          <p:nvPr/>
        </p:nvSpPr>
        <p:spPr>
          <a:xfrm>
            <a:off x="1315801" y="1595566"/>
            <a:ext cx="2755722" cy="2594221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40DB1D5-A21A-9876-DB41-B741EDE13DEE}"/>
              </a:ext>
            </a:extLst>
          </p:cNvPr>
          <p:cNvSpPr txBox="1"/>
          <p:nvPr/>
        </p:nvSpPr>
        <p:spPr>
          <a:xfrm>
            <a:off x="1400827" y="1136942"/>
            <a:ext cx="391297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i="0" u="none">
                <a:solidFill>
                  <a:srgbClr val="0F172A"/>
                </a:solidFill>
              </a:rPr>
              <a:t>Desired Capabilities </a:t>
            </a:r>
            <a:r>
              <a:rPr i="0" u="none" err="1">
                <a:solidFill>
                  <a:srgbClr val="0F172A"/>
                </a:solidFill>
              </a:rPr>
              <a:t>là</a:t>
            </a:r>
            <a:r>
              <a:rPr i="0" u="none">
                <a:solidFill>
                  <a:srgbClr val="0F172A"/>
                </a:solidFill>
              </a:rPr>
              <a:t> </a:t>
            </a:r>
            <a:r>
              <a:rPr i="0" u="none" err="1">
                <a:solidFill>
                  <a:srgbClr val="0F172A"/>
                </a:solidFill>
              </a:rPr>
              <a:t>gì</a:t>
            </a:r>
            <a:r>
              <a:rPr i="0" u="none">
                <a:solidFill>
                  <a:srgbClr val="0F172A"/>
                </a:solidFill>
              </a:rPr>
              <a:t>?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7B905098-963B-EE12-6477-1492D4387A61}"/>
              </a:ext>
            </a:extLst>
          </p:cNvPr>
          <p:cNvSpPr txBox="1"/>
          <p:nvPr/>
        </p:nvSpPr>
        <p:spPr>
          <a:xfrm>
            <a:off x="1611265" y="1872710"/>
            <a:ext cx="21060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 err="1">
                <a:solidFill>
                  <a:srgbClr val="0F172A"/>
                </a:solidFill>
              </a:rPr>
              <a:t>Tập</a:t>
            </a:r>
            <a:r>
              <a:rPr sz="1350" b="1" i="0" u="none">
                <a:solidFill>
                  <a:srgbClr val="0F172A"/>
                </a:solidFill>
              </a:rPr>
              <a:t> </a:t>
            </a:r>
            <a:r>
              <a:rPr sz="1350" b="1" i="0" u="none" err="1">
                <a:solidFill>
                  <a:srgbClr val="0F172A"/>
                </a:solidFill>
              </a:rPr>
              <a:t>hợp</a:t>
            </a:r>
            <a:r>
              <a:rPr sz="1350" b="1" i="0" u="none">
                <a:solidFill>
                  <a:srgbClr val="0F172A"/>
                </a:solidFill>
              </a:rPr>
              <a:t> Key / Value JSON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79E05A8D-3F34-CF43-27A4-98A8838C9C18}"/>
              </a:ext>
            </a:extLst>
          </p:cNvPr>
          <p:cNvSpPr txBox="1"/>
          <p:nvPr/>
        </p:nvSpPr>
        <p:spPr>
          <a:xfrm>
            <a:off x="1599851" y="2279524"/>
            <a:ext cx="2106031" cy="672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125" b="0" i="0" u="none" err="1">
                <a:solidFill>
                  <a:srgbClr val="475569"/>
                </a:solidFill>
              </a:rPr>
              <a:t>Gửi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tới</a:t>
            </a:r>
            <a:r>
              <a:rPr sz="1125" b="0" i="0" u="none">
                <a:solidFill>
                  <a:srgbClr val="475569"/>
                </a:solidFill>
              </a:rPr>
              <a:t> Appium Server </a:t>
            </a:r>
            <a:r>
              <a:rPr sz="1125" b="0" i="0" u="none" err="1">
                <a:solidFill>
                  <a:srgbClr val="475569"/>
                </a:solidFill>
              </a:rPr>
              <a:t>để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mô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tả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các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đặc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tính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mong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muốn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của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thiết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bị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và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ứng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dụng</a:t>
            </a:r>
            <a:r>
              <a:rPr sz="1125" b="0" i="0" u="none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B920A759-6658-8A0A-00CB-8C19BF808B37}"/>
              </a:ext>
            </a:extLst>
          </p:cNvPr>
          <p:cNvSpPr txBox="1"/>
          <p:nvPr/>
        </p:nvSpPr>
        <p:spPr>
          <a:xfrm>
            <a:off x="1599851" y="3067056"/>
            <a:ext cx="2106031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350" b="1">
                <a:solidFill>
                  <a:srgbClr val="0F172A"/>
                </a:solidFill>
              </a:rPr>
              <a:t>Điều</a:t>
            </a:r>
            <a:r>
              <a:rPr sz="1350" b="1" i="0" u="none">
                <a:solidFill>
                  <a:srgbClr val="0F172A"/>
                </a:solidFill>
              </a:rPr>
              <a:t> </a:t>
            </a:r>
            <a:r>
              <a:rPr sz="1350" b="1" i="0" u="none" err="1">
                <a:solidFill>
                  <a:srgbClr val="0F172A"/>
                </a:solidFill>
              </a:rPr>
              <a:t>chỉnh</a:t>
            </a:r>
            <a:r>
              <a:rPr sz="1350" b="1" i="0" u="none">
                <a:solidFill>
                  <a:srgbClr val="0F172A"/>
                </a:solidFill>
              </a:rPr>
              <a:t> </a:t>
            </a:r>
            <a:r>
              <a:rPr sz="1350" b="1" i="0" u="none" err="1">
                <a:solidFill>
                  <a:srgbClr val="0F172A"/>
                </a:solidFill>
              </a:rPr>
              <a:t>hành</a:t>
            </a:r>
            <a:r>
              <a:rPr sz="1350" b="1" i="0" u="none">
                <a:solidFill>
                  <a:srgbClr val="0F172A"/>
                </a:solidFill>
              </a:rPr>
              <a:t> vi Server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279C480D-46E5-7A65-E178-565568FF3177}"/>
              </a:ext>
            </a:extLst>
          </p:cNvPr>
          <p:cNvSpPr txBox="1"/>
          <p:nvPr/>
        </p:nvSpPr>
        <p:spPr>
          <a:xfrm>
            <a:off x="1595338" y="3326694"/>
            <a:ext cx="2196647" cy="672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</a:rPr>
              <a:t>Cho </a:t>
            </a:r>
            <a:r>
              <a:rPr sz="1125" b="0" i="0" u="none" err="1">
                <a:solidFill>
                  <a:srgbClr val="475569"/>
                </a:solidFill>
              </a:rPr>
              <a:t>phép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tùy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biến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linh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hoạt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cách</a:t>
            </a:r>
            <a:r>
              <a:rPr sz="1125" b="0" i="0" u="none">
                <a:solidFill>
                  <a:srgbClr val="475569"/>
                </a:solidFill>
              </a:rPr>
              <a:t> Server </a:t>
            </a:r>
            <a:r>
              <a:rPr sz="1125" b="0" i="0" u="none" err="1">
                <a:solidFill>
                  <a:srgbClr val="475569"/>
                </a:solidFill>
              </a:rPr>
              <a:t>vận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hành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trong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suốt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quá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trình</a:t>
            </a:r>
            <a:r>
              <a:rPr sz="1125" b="0" i="0" u="none">
                <a:solidFill>
                  <a:srgbClr val="475569"/>
                </a:solidFill>
              </a:rPr>
              <a:t> </a:t>
            </a:r>
            <a:r>
              <a:rPr sz="1125" b="0" i="0" u="none" err="1">
                <a:solidFill>
                  <a:srgbClr val="475569"/>
                </a:solidFill>
              </a:rPr>
              <a:t>chạy</a:t>
            </a:r>
            <a:r>
              <a:rPr sz="1125" b="0" i="0" u="none">
                <a:solidFill>
                  <a:srgbClr val="475569"/>
                </a:solidFill>
              </a:rPr>
              <a:t> test.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5E0A65-6EDD-BBCF-CB79-871312077EC3}"/>
              </a:ext>
            </a:extLst>
          </p:cNvPr>
          <p:cNvSpPr/>
          <p:nvPr/>
        </p:nvSpPr>
        <p:spPr>
          <a:xfrm flipH="1">
            <a:off x="1333598" y="1631618"/>
            <a:ext cx="45719" cy="2558169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AAB5028-428E-F911-8269-08933FAF6010}"/>
              </a:ext>
            </a:extLst>
          </p:cNvPr>
          <p:cNvSpPr/>
          <p:nvPr/>
        </p:nvSpPr>
        <p:spPr>
          <a:xfrm>
            <a:off x="5295737" y="1152420"/>
            <a:ext cx="245112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>
                <a:solidFill>
                  <a:srgbClr val="000000"/>
                </a:solidFill>
                <a:ea typeface="Arimo" pitchFamily="34" charset="-122"/>
                <a:cs typeface="Arimo" pitchFamily="34" charset="0"/>
              </a:rPr>
              <a:t>Mô tả môi trường chạy</a:t>
            </a:r>
            <a:endParaRPr lang="en-US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C66399E-54B8-D83B-F319-8C76E8FE53E6}"/>
              </a:ext>
            </a:extLst>
          </p:cNvPr>
          <p:cNvSpPr/>
          <p:nvPr/>
        </p:nvSpPr>
        <p:spPr>
          <a:xfrm>
            <a:off x="5321196" y="1924661"/>
            <a:ext cx="2673581" cy="37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400" b="1">
                <a:solidFill>
                  <a:srgbClr val="0F172A"/>
                </a:solidFill>
                <a:ea typeface="Plus Jakarta Sans Bold" pitchFamily="34" charset="-122"/>
                <a:cs typeface="Plus Jakarta Sans Bold" pitchFamily="34" charset="0"/>
              </a:rPr>
              <a:t>Trình duyệt &amp; nền tảng</a:t>
            </a:r>
            <a:endParaRPr lang="en-US" sz="1400" b="1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43A592A-3553-D843-22D6-EE468F0CE843}"/>
              </a:ext>
            </a:extLst>
          </p:cNvPr>
          <p:cNvSpPr/>
          <p:nvPr/>
        </p:nvSpPr>
        <p:spPr>
          <a:xfrm>
            <a:off x="5321196" y="2978190"/>
            <a:ext cx="2425670" cy="37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400" b="1">
                <a:solidFill>
                  <a:srgbClr val="0F172A"/>
                </a:solidFill>
                <a:ea typeface="Plus Jakarta Sans Bold" pitchFamily="34" charset="-122"/>
                <a:cs typeface="Plus Jakarta Sans Bold" pitchFamily="34" charset="0"/>
              </a:rPr>
              <a:t>Điểm khởi đầu của phiên chạy</a:t>
            </a:r>
            <a:endParaRPr lang="en-US" sz="140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1CCF5411-C7EA-EE64-2A8E-E0C8E2DD6DD5}"/>
              </a:ext>
            </a:extLst>
          </p:cNvPr>
          <p:cNvSpPr/>
          <p:nvPr/>
        </p:nvSpPr>
        <p:spPr>
          <a:xfrm>
            <a:off x="5313800" y="3274805"/>
            <a:ext cx="2289842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475569"/>
                </a:solidFill>
                <a:ea typeface="Plus Jakarta Sans" pitchFamily="34" charset="-122"/>
                <a:cs typeface="Plus Jakarta Sans" pitchFamily="34" charset="0"/>
              </a:rPr>
              <a:t>Gửi yêu cầu tới Selenium Server hoặc Selenium Grid.</a:t>
            </a:r>
            <a:endParaRPr lang="en-US" sz="13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F16D4ECB-49ED-B22E-DDD0-8497321B40E6}"/>
              </a:ext>
            </a:extLst>
          </p:cNvPr>
          <p:cNvSpPr/>
          <p:nvPr/>
        </p:nvSpPr>
        <p:spPr>
          <a:xfrm>
            <a:off x="1830227" y="4536294"/>
            <a:ext cx="5926497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600">
                <a:solidFill>
                  <a:srgbClr val="475569"/>
                </a:solidFill>
                <a:ea typeface="Plus Jakarta Sans" pitchFamily="34" charset="-122"/>
                <a:cs typeface="Plus Jakarta Sans" pitchFamily="34" charset="0"/>
              </a:rPr>
              <a:t>Tập capability là hợp đồng mô tả cách driver được </a:t>
            </a:r>
            <a:r>
              <a:rPr lang="en-US" sz="1600" err="1">
                <a:solidFill>
                  <a:srgbClr val="475569"/>
                </a:solidFill>
                <a:ea typeface="Plus Jakarta Sans" pitchFamily="34" charset="-122"/>
                <a:cs typeface="Plus Jakarta Sans" pitchFamily="34" charset="0"/>
              </a:rPr>
              <a:t>khởi</a:t>
            </a:r>
            <a:r>
              <a:rPr lang="en-US" sz="1600">
                <a:solidFill>
                  <a:srgbClr val="475569"/>
                </a:solidFill>
                <a:ea typeface="Plus Jakarta Sans" pitchFamily="34" charset="-122"/>
                <a:cs typeface="Plus Jakarta Sans" pitchFamily="34" charset="0"/>
              </a:rPr>
              <a:t> tạo</a:t>
            </a:r>
            <a:endParaRPr lang="en-US" sz="1600"/>
          </a:p>
        </p:txBody>
      </p:sp>
      <p:pic>
        <p:nvPicPr>
          <p:cNvPr id="45" name="Image 4">
            <a:extLst>
              <a:ext uri="{FF2B5EF4-FFF2-40B4-BE49-F238E27FC236}">
                <a16:creationId xmlns:a16="http://schemas.microsoft.com/office/drawing/2014/main" id="{2E91F5EE-ACF9-2B55-62AA-5DEB4C36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49" y="4536294"/>
            <a:ext cx="236231" cy="227383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DAF6C8C3-51BE-C650-0EE1-8EF0D6EEBAD2}"/>
              </a:ext>
            </a:extLst>
          </p:cNvPr>
          <p:cNvSpPr/>
          <p:nvPr/>
        </p:nvSpPr>
        <p:spPr>
          <a:xfrm>
            <a:off x="5329878" y="2271168"/>
            <a:ext cx="2202857" cy="502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475569"/>
                </a:solidFill>
                <a:ea typeface="Plus Jakarta Sans" pitchFamily="34" charset="-122"/>
                <a:cs typeface="Plus Jakarta Sans" pitchFamily="34" charset="0"/>
              </a:rPr>
              <a:t>Capability mô tả browser, platform và các tùy chọn chạy.</a:t>
            </a:r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7DDB94-232E-FBD3-A939-2E260A2533F8}"/>
              </a:ext>
            </a:extLst>
          </p:cNvPr>
          <p:cNvSpPr/>
          <p:nvPr/>
        </p:nvSpPr>
        <p:spPr>
          <a:xfrm flipH="1">
            <a:off x="5072479" y="1628085"/>
            <a:ext cx="55811" cy="254367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7332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6317-45EA-035C-0BA0-4866A4A6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>
            <a:extLst>
              <a:ext uri="{FF2B5EF4-FFF2-40B4-BE49-F238E27FC236}">
                <a16:creationId xmlns:a16="http://schemas.microsoft.com/office/drawing/2014/main" id="{898E64AB-E881-99F3-2EC3-6C5C0473E69E}"/>
              </a:ext>
            </a:extLst>
          </p:cNvPr>
          <p:cNvSpPr/>
          <p:nvPr/>
        </p:nvSpPr>
        <p:spPr>
          <a:xfrm>
            <a:off x="-55965" y="2353603"/>
            <a:ext cx="358642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>
                <a:solidFill>
                  <a:srgbClr val="000000"/>
                </a:solidFill>
                <a:latin typeface="Vidaloka" pitchFamily="34" charset="0"/>
                <a:ea typeface="Vidaloka" pitchFamily="34" charset="-122"/>
                <a:cs typeface="Vidaloka" pitchFamily="34" charset="0"/>
              </a:rPr>
              <a:t>Chọn cấu hình dựng sẵn</a:t>
            </a:r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BD97C19-5B7C-AF56-B417-13C07A32AB50}"/>
              </a:ext>
            </a:extLst>
          </p:cNvPr>
          <p:cNvSpPr/>
          <p:nvPr/>
        </p:nvSpPr>
        <p:spPr>
          <a:xfrm>
            <a:off x="-55965" y="2734603"/>
            <a:ext cx="3586424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Ví dụ: </a:t>
            </a:r>
            <a:r>
              <a:rPr lang="en-US" sz="1100" b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DesiredCapabilities.FIREFOX</a:t>
            </a:r>
            <a:endParaRPr lang="en-US" sz="110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515A286-446A-DEB7-C86F-BBD21DF6C053}"/>
              </a:ext>
            </a:extLst>
          </p:cNvPr>
          <p:cNvSpPr/>
          <p:nvPr/>
        </p:nvSpPr>
        <p:spPr>
          <a:xfrm>
            <a:off x="3441584" y="2351367"/>
            <a:ext cx="28042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>
                <a:solidFill>
                  <a:srgbClr val="000000"/>
                </a:solidFill>
                <a:latin typeface="Vidaloka" pitchFamily="34" charset="0"/>
                <a:ea typeface="Vidaloka" pitchFamily="34" charset="-122"/>
                <a:cs typeface="Vidaloka" pitchFamily="34" charset="0"/>
              </a:rPr>
              <a:t>Dùng bản sao riêng</a:t>
            </a:r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F2583C1-F078-33F9-36D8-9E34FA792B53}"/>
              </a:ext>
            </a:extLst>
          </p:cNvPr>
          <p:cNvSpPr/>
          <p:nvPr/>
        </p:nvSpPr>
        <p:spPr>
          <a:xfrm>
            <a:off x="3486022" y="2732367"/>
            <a:ext cx="280424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Gọi </a:t>
            </a:r>
            <a:r>
              <a:rPr lang="en-US" sz="1100" b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.copy()</a:t>
            </a:r>
            <a:r>
              <a:rPr lang="en-US" sz="11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trước khi chỉnh sửa.</a:t>
            </a:r>
            <a:endParaRPr lang="en-US" sz="110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7B0D9A8-7298-5542-E2B0-799006B85337}"/>
              </a:ext>
            </a:extLst>
          </p:cNvPr>
          <p:cNvSpPr/>
          <p:nvPr/>
        </p:nvSpPr>
        <p:spPr>
          <a:xfrm>
            <a:off x="6154693" y="2351367"/>
            <a:ext cx="28042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>
                <a:solidFill>
                  <a:srgbClr val="000000"/>
                </a:solidFill>
                <a:latin typeface="Vidaloka" pitchFamily="34" charset="0"/>
                <a:ea typeface="Vidaloka" pitchFamily="34" charset="-122"/>
                <a:cs typeface="Vidaloka" pitchFamily="34" charset="0"/>
              </a:rPr>
              <a:t>Bổ sung thuộc tính</a:t>
            </a:r>
            <a:endParaRPr lang="en-US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0096C1E8-2769-3309-51A3-6B82D5A4BA21}"/>
              </a:ext>
            </a:extLst>
          </p:cNvPr>
          <p:cNvSpPr/>
          <p:nvPr/>
        </p:nvSpPr>
        <p:spPr>
          <a:xfrm>
            <a:off x="6522584" y="2732367"/>
            <a:ext cx="225996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00" b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platform</a:t>
            </a:r>
            <a:r>
              <a:rPr lang="en-US" sz="11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, </a:t>
            </a:r>
            <a:r>
              <a:rPr lang="en-US" sz="1100" b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version</a:t>
            </a:r>
            <a:r>
              <a:rPr lang="en-US" sz="11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0"/>
              </a:rPr>
              <a:t> hoặc thuộc tính cần thiết.</a:t>
            </a:r>
            <a:endParaRPr lang="en-US" sz="110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170F6391-9070-27B1-D698-A063D8094134}"/>
              </a:ext>
            </a:extLst>
          </p:cNvPr>
          <p:cNvSpPr/>
          <p:nvPr/>
        </p:nvSpPr>
        <p:spPr>
          <a:xfrm>
            <a:off x="484095" y="1395483"/>
            <a:ext cx="5055366" cy="636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800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Ba bước </a:t>
            </a:r>
            <a:r>
              <a:rPr lang="en-US" sz="2800" err="1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tạo</a:t>
            </a:r>
            <a:r>
              <a:rPr lang="en-US" sz="2800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 </a:t>
            </a:r>
            <a:r>
              <a:rPr lang="vi-VN" sz="2800" err="1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capability</a:t>
            </a:r>
            <a:r>
              <a:rPr lang="vi-VN" sz="2800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:</a:t>
            </a:r>
            <a:endParaRPr lang="en-US" sz="28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4596A4-D4FF-74F2-1695-66F02FF62BAB}"/>
              </a:ext>
            </a:extLst>
          </p:cNvPr>
          <p:cNvCxnSpPr/>
          <p:nvPr/>
        </p:nvCxnSpPr>
        <p:spPr>
          <a:xfrm>
            <a:off x="3234755" y="2493392"/>
            <a:ext cx="413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9D7123-D761-E93A-62E0-1259C6B8B7F0}"/>
              </a:ext>
            </a:extLst>
          </p:cNvPr>
          <p:cNvCxnSpPr/>
          <p:nvPr/>
        </p:nvCxnSpPr>
        <p:spPr>
          <a:xfrm>
            <a:off x="5984576" y="2493392"/>
            <a:ext cx="413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45234A2-1ED2-D1FD-1507-A86CB80A9CD4}"/>
              </a:ext>
            </a:extLst>
          </p:cNvPr>
          <p:cNvSpPr txBox="1"/>
          <p:nvPr/>
        </p:nvSpPr>
        <p:spPr>
          <a:xfrm>
            <a:off x="1390785" y="4147658"/>
            <a:ext cx="7568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Lưu ý </a:t>
            </a:r>
            <a:r>
              <a:rPr lang="en-US" sz="1400" b="1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400" b="1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.copy()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DesiredCapabilities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tránh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1400" kern="100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err="1">
                <a:effectLst/>
                <a:latin typeface="Arial"/>
                <a:ea typeface="Arial" panose="020B0604020202020204" pitchFamily="34" charset="0"/>
                <a:cs typeface="Arial" panose="020B0604020202020204" pitchFamily="34" charset="0"/>
              </a:rPr>
              <a:t>cục</a:t>
            </a:r>
            <a:endParaRPr lang="en-US" sz="1200" kern="10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 descr="Warning with solid fill">
            <a:extLst>
              <a:ext uri="{FF2B5EF4-FFF2-40B4-BE49-F238E27FC236}">
                <a16:creationId xmlns:a16="http://schemas.microsoft.com/office/drawing/2014/main" id="{138ACA1B-368D-DED9-9304-85C7B6F4B6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8699" y="4147658"/>
            <a:ext cx="482086" cy="48208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35F0C48-7372-7E28-C9D3-3B54D1BEFF41}"/>
              </a:ext>
            </a:extLst>
          </p:cNvPr>
          <p:cNvSpPr txBox="1">
            <a:spLocks/>
          </p:cNvSpPr>
          <p:nvPr/>
        </p:nvSpPr>
        <p:spPr>
          <a:xfrm>
            <a:off x="0" y="290042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2400" b="1">
                <a:latin typeface="+mn-lt"/>
              </a:rPr>
              <a:t>03. Desired Capabilities - Thiết lập thuộc tính mong muốn</a:t>
            </a:r>
            <a:endParaRPr lang="en-US" sz="24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560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18CF-5A55-133A-A877-D3B1732C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CEAF17C-0E24-A1DD-364C-A7104D6B49C7}"/>
              </a:ext>
            </a:extLst>
          </p:cNvPr>
          <p:cNvSpPr/>
          <p:nvPr/>
        </p:nvSpPr>
        <p:spPr>
          <a:xfrm>
            <a:off x="2996595" y="3061992"/>
            <a:ext cx="3058242" cy="468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400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HTMLUNIT / HTMLUNITWITHJS</a:t>
            </a:r>
            <a:endParaRPr lang="en-US"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F4E416-8847-F639-934B-7F245457BA1D}"/>
              </a:ext>
            </a:extLst>
          </p:cNvPr>
          <p:cNvSpPr/>
          <p:nvPr/>
        </p:nvSpPr>
        <p:spPr>
          <a:xfrm>
            <a:off x="3218976" y="3474785"/>
            <a:ext cx="2563247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000000"/>
                </a:solidFill>
                <a:ea typeface="Montserrat" pitchFamily="34" charset="-122"/>
                <a:cs typeface="Montserrat" pitchFamily="34" charset="0"/>
              </a:rPr>
              <a:t>trình duyệt nhẹ, có thể bật JavaScript.</a:t>
            </a:r>
            <a:endParaRPr lang="en-US" sz="1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F16CCE-18B8-7067-D852-D291F2CDB976}"/>
              </a:ext>
            </a:extLst>
          </p:cNvPr>
          <p:cNvSpPr/>
          <p:nvPr/>
        </p:nvSpPr>
        <p:spPr>
          <a:xfrm>
            <a:off x="210967" y="3061991"/>
            <a:ext cx="305824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400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IPAD / IPHONE</a:t>
            </a:r>
            <a:endParaRPr lang="en-US" sz="1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78B5E7-3D33-47D3-C442-56E221DA6C00}"/>
              </a:ext>
            </a:extLst>
          </p:cNvPr>
          <p:cNvSpPr/>
          <p:nvPr/>
        </p:nvSpPr>
        <p:spPr>
          <a:xfrm>
            <a:off x="754145" y="3427711"/>
            <a:ext cx="1994230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000000"/>
                </a:solidFill>
                <a:ea typeface="Montserrat" pitchFamily="34" charset="-122"/>
                <a:cs typeface="Montserrat" pitchFamily="34" charset="0"/>
              </a:rPr>
              <a:t>cấu hình thiết bị Apple trên nền tảng mac.</a:t>
            </a:r>
            <a:endParaRPr lang="en-US"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FEBA0A-60CB-67BF-D432-83B852C8DC07}"/>
              </a:ext>
            </a:extLst>
          </p:cNvPr>
          <p:cNvSpPr/>
          <p:nvPr/>
        </p:nvSpPr>
        <p:spPr>
          <a:xfrm>
            <a:off x="5874791" y="3080990"/>
            <a:ext cx="3058242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400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WEBKITGTK / WPEWEBKIT</a:t>
            </a:r>
            <a:endParaRPr lang="en-US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286AED-977E-E3ED-D60A-C90E8C7799A0}"/>
              </a:ext>
            </a:extLst>
          </p:cNvPr>
          <p:cNvSpPr/>
          <p:nvPr/>
        </p:nvSpPr>
        <p:spPr>
          <a:xfrm>
            <a:off x="5476173" y="3493784"/>
            <a:ext cx="3667827" cy="327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000000"/>
                </a:solidFill>
                <a:ea typeface="Montserrat" pitchFamily="34" charset="-122"/>
                <a:cs typeface="Montserrat" pitchFamily="34" charset="0"/>
              </a:rPr>
              <a:t>sử dụng MiniBrowser.</a:t>
            </a:r>
            <a:endParaRPr lang="en-US"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13B858B-EC04-4E0B-16D4-2985E0BAFD5A}"/>
              </a:ext>
            </a:extLst>
          </p:cNvPr>
          <p:cNvSpPr/>
          <p:nvPr/>
        </p:nvSpPr>
        <p:spPr>
          <a:xfrm>
            <a:off x="1131307" y="1919772"/>
            <a:ext cx="1239906" cy="979185"/>
          </a:xfrm>
          <a:prstGeom prst="rect">
            <a:avLst/>
          </a:prstGeom>
          <a:solidFill>
            <a:srgbClr val="F5F2EE"/>
          </a:solidFill>
          <a:ln w="19050">
            <a:solidFill>
              <a:srgbClr val="3F3533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D8FF707-06A5-B69C-7B26-09F6FB8E6CE4}"/>
              </a:ext>
            </a:extLst>
          </p:cNvPr>
          <p:cNvSpPr/>
          <p:nvPr/>
        </p:nvSpPr>
        <p:spPr>
          <a:xfrm>
            <a:off x="1199171" y="2187261"/>
            <a:ext cx="1104178" cy="71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200">
                <a:solidFill>
                  <a:srgbClr val="3F3533"/>
                </a:solidFill>
                <a:ea typeface="Vidaloka" pitchFamily="34" charset="-122"/>
                <a:cs typeface="Vidaloka" pitchFamily="34" charset="0"/>
              </a:rPr>
              <a:t>01</a:t>
            </a:r>
            <a:endParaRPr lang="en-US" sz="32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AE9ECC1-A0E5-BEB1-B509-2999CC64ED13}"/>
              </a:ext>
            </a:extLst>
          </p:cNvPr>
          <p:cNvSpPr/>
          <p:nvPr/>
        </p:nvSpPr>
        <p:spPr>
          <a:xfrm>
            <a:off x="3905763" y="1919773"/>
            <a:ext cx="1239906" cy="979185"/>
          </a:xfrm>
          <a:prstGeom prst="rect">
            <a:avLst/>
          </a:prstGeom>
          <a:solidFill>
            <a:srgbClr val="F5F2EE"/>
          </a:solidFill>
          <a:ln w="19050">
            <a:solidFill>
              <a:srgbClr val="3F3533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B2A1D73-4F18-9197-F42A-567AAB14063F}"/>
              </a:ext>
            </a:extLst>
          </p:cNvPr>
          <p:cNvSpPr/>
          <p:nvPr/>
        </p:nvSpPr>
        <p:spPr>
          <a:xfrm>
            <a:off x="3973627" y="2187262"/>
            <a:ext cx="1104178" cy="71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200">
                <a:solidFill>
                  <a:srgbClr val="3F3533"/>
                </a:solidFill>
                <a:ea typeface="Vidaloka" pitchFamily="34" charset="-122"/>
                <a:cs typeface="Vidaloka" pitchFamily="34" charset="0"/>
              </a:rPr>
              <a:t>02</a:t>
            </a:r>
            <a:endParaRPr lang="en-US" sz="32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63A34B1-A25B-27E0-1A19-66BB4022328F}"/>
              </a:ext>
            </a:extLst>
          </p:cNvPr>
          <p:cNvSpPr/>
          <p:nvPr/>
        </p:nvSpPr>
        <p:spPr>
          <a:xfrm>
            <a:off x="6710888" y="1896677"/>
            <a:ext cx="1239906" cy="979185"/>
          </a:xfrm>
          <a:prstGeom prst="rect">
            <a:avLst/>
          </a:prstGeom>
          <a:solidFill>
            <a:srgbClr val="F5F2EE"/>
          </a:solidFill>
          <a:ln w="19050">
            <a:solidFill>
              <a:srgbClr val="3F3533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1FFFFF9-9905-409E-7F39-ECE3B40E2F68}"/>
              </a:ext>
            </a:extLst>
          </p:cNvPr>
          <p:cNvSpPr/>
          <p:nvPr/>
        </p:nvSpPr>
        <p:spPr>
          <a:xfrm>
            <a:off x="6778752" y="2164166"/>
            <a:ext cx="1104178" cy="71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200">
                <a:solidFill>
                  <a:srgbClr val="3F3533"/>
                </a:solidFill>
                <a:ea typeface="Vidaloka" pitchFamily="34" charset="-122"/>
                <a:cs typeface="Vidaloka" pitchFamily="34" charset="0"/>
              </a:rPr>
              <a:t>03</a:t>
            </a:r>
            <a:endParaRPr lang="en-US" sz="32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1949344-99B5-35DB-C0A7-01E2E6E0B181}"/>
              </a:ext>
            </a:extLst>
          </p:cNvPr>
          <p:cNvSpPr/>
          <p:nvPr/>
        </p:nvSpPr>
        <p:spPr>
          <a:xfrm>
            <a:off x="837668" y="1153333"/>
            <a:ext cx="717760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000000"/>
                </a:solidFill>
                <a:ea typeface="Vidaloka" pitchFamily="34" charset="-122"/>
                <a:cs typeface="Vidaloka" pitchFamily="34" charset="0"/>
              </a:rPr>
              <a:t>Nhóm capability đặc thù</a:t>
            </a:r>
            <a:endParaRPr lang="en-US" sz="20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A0841B6-5D53-28C6-9FAF-EBA3C838B4DD}"/>
              </a:ext>
            </a:extLst>
          </p:cNvPr>
          <p:cNvSpPr txBox="1">
            <a:spLocks/>
          </p:cNvSpPr>
          <p:nvPr/>
        </p:nvSpPr>
        <p:spPr>
          <a:xfrm>
            <a:off x="0" y="290042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2400" b="1">
                <a:latin typeface="+mn-lt"/>
              </a:rPr>
              <a:t>03. Desired Capabilities - Thiết lập thuộc tính mong muốn</a:t>
            </a:r>
            <a:endParaRPr lang="en-US" sz="24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104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E685-E77A-F6DF-27B4-C12A3471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D40BFE08-6DBB-2E81-EDF1-177E3F5314BD}"/>
              </a:ext>
            </a:extLst>
          </p:cNvPr>
          <p:cNvSpPr txBox="1">
            <a:spLocks/>
          </p:cNvSpPr>
          <p:nvPr/>
        </p:nvSpPr>
        <p:spPr>
          <a:xfrm>
            <a:off x="0" y="290042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2400" b="1" dirty="0">
                <a:latin typeface="+mn-lt"/>
              </a:rPr>
              <a:t>04. </a:t>
            </a:r>
            <a:r>
              <a:rPr lang="vi-VN" sz="2400" b="1" dirty="0" err="1">
                <a:latin typeface="+mn-lt"/>
              </a:rPr>
              <a:t>Demo</a:t>
            </a:r>
            <a:r>
              <a:rPr lang="vi-VN" sz="2400" b="1" dirty="0">
                <a:latin typeface="+mn-lt"/>
              </a:rPr>
              <a:t> </a:t>
            </a:r>
            <a:endParaRPr lang="en-US" sz="24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699DDB4-2998-A7FE-9721-0C7CF8362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800" y="1621090"/>
              <a:ext cx="7613650" cy="2185679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52450">
                      <a:extLst>
                        <a:ext uri="{9D8B030D-6E8A-4147-A177-3AD203B41FA5}">
                          <a16:colId xmlns:a16="http://schemas.microsoft.com/office/drawing/2014/main" val="1644970209"/>
                        </a:ext>
                      </a:extLst>
                    </a:gridCol>
                    <a:gridCol w="1733550">
                      <a:extLst>
                        <a:ext uri="{9D8B030D-6E8A-4147-A177-3AD203B41FA5}">
                          <a16:colId xmlns:a16="http://schemas.microsoft.com/office/drawing/2014/main" val="2154446181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4064170957"/>
                        </a:ext>
                      </a:extLst>
                    </a:gridCol>
                    <a:gridCol w="2101850">
                      <a:extLst>
                        <a:ext uri="{9D8B030D-6E8A-4147-A177-3AD203B41FA5}">
                          <a16:colId xmlns:a16="http://schemas.microsoft.com/office/drawing/2014/main" val="3378288711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589649940"/>
                        </a:ext>
                      </a:extLst>
                    </a:gridCol>
                  </a:tblGrid>
                  <a:tr h="341060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 dirty="0" err="1">
                              <a:effectLst/>
                            </a:rPr>
                            <a:t>Mã</a:t>
                          </a:r>
                          <a:r>
                            <a:rPr lang="en-US" sz="900" b="1" dirty="0">
                              <a:effectLst/>
                            </a:rPr>
                            <a:t> TC</a:t>
                          </a:r>
                          <a:endParaRPr lang="en-US" sz="900" b="1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>
                              <a:effectLst/>
                            </a:rPr>
                            <a:t>Tên Test Case</a:t>
                          </a:r>
                          <a:endParaRPr lang="en-US" sz="900" b="1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 dirty="0">
                              <a:effectLst/>
                            </a:rPr>
                            <a:t>Các </a:t>
                          </a:r>
                          <a:r>
                            <a:rPr lang="en-US" sz="900" b="1" dirty="0" err="1">
                              <a:effectLst/>
                            </a:rPr>
                            <a:t>Bước</a:t>
                          </a:r>
                          <a:r>
                            <a:rPr lang="en-US" sz="900" b="1" dirty="0">
                              <a:effectLst/>
                            </a:rPr>
                            <a:t> </a:t>
                          </a:r>
                          <a:r>
                            <a:rPr lang="en-US" sz="900" b="1" dirty="0" err="1">
                              <a:effectLst/>
                            </a:rPr>
                            <a:t>Thực</a:t>
                          </a:r>
                          <a:r>
                            <a:rPr lang="en-US" sz="900" b="1" dirty="0">
                              <a:effectLst/>
                            </a:rPr>
                            <a:t> </a:t>
                          </a:r>
                          <a:r>
                            <a:rPr lang="en-US" sz="900" b="1" dirty="0" err="1">
                              <a:effectLst/>
                            </a:rPr>
                            <a:t>Hiện</a:t>
                          </a:r>
                          <a:endParaRPr lang="en-US" sz="900" b="1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>
                              <a:effectLst/>
                            </a:rPr>
                            <a:t>Kết Quả Mong Đợi</a:t>
                          </a:r>
                          <a:endParaRPr lang="en-US" sz="900" b="1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 dirty="0" err="1">
                              <a:effectLst/>
                            </a:rPr>
                            <a:t>Kết</a:t>
                          </a:r>
                          <a:r>
                            <a:rPr lang="en-US" sz="900" b="1" dirty="0">
                              <a:effectLst/>
                            </a:rPr>
                            <a:t> </a:t>
                          </a:r>
                          <a:r>
                            <a:rPr lang="en-US" sz="900" b="1" dirty="0" err="1">
                              <a:effectLst/>
                            </a:rPr>
                            <a:t>Quả</a:t>
                          </a:r>
                          <a:endParaRPr lang="en-US" sz="900" b="1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1856836940"/>
                      </a:ext>
                    </a:extLst>
                  </a:tr>
                  <a:tr h="466669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TC01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Xóa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hàng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khi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Reset App</a:t>
                          </a: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vi-VN" sz="1000" dirty="0">
                              <a:effectLst/>
                            </a:rPr>
                            <a:t>1. </a:t>
                          </a:r>
                          <a:r>
                            <a:rPr lang="en-US" sz="1000" dirty="0" err="1">
                              <a:effectLst/>
                            </a:rPr>
                            <a:t>Đăng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nhập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000" dirty="0" err="1">
                              <a:effectLst/>
                            </a:rPr>
                            <a:t>Thêm</a:t>
                          </a:r>
                          <a:r>
                            <a:rPr lang="en-US" sz="1000" dirty="0">
                              <a:effectLst/>
                            </a:rPr>
                            <a:t> 2 </a:t>
                          </a:r>
                          <a:r>
                            <a:rPr lang="en-US" sz="1000" dirty="0" err="1">
                              <a:effectLst/>
                            </a:rPr>
                            <a:t>sản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phẩm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vào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giỏ</a:t>
                          </a:r>
                          <a:br>
                            <a:rPr lang="vi-VN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2. </a:t>
                          </a:r>
                          <a:r>
                            <a:rPr lang="en-US" sz="1000" dirty="0" err="1">
                              <a:effectLst/>
                            </a:rPr>
                            <a:t>Mở</a:t>
                          </a:r>
                          <a:r>
                            <a:rPr lang="en-US" sz="1000" dirty="0">
                              <a:effectLst/>
                            </a:rPr>
                            <a:t> Menu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000" dirty="0" err="1">
                              <a:effectLst/>
                            </a:rPr>
                            <a:t>Chọn</a:t>
                          </a:r>
                          <a:r>
                            <a:rPr lang="en-US" sz="1000" dirty="0">
                              <a:effectLst/>
                            </a:rPr>
                            <a:t> RESET APP STATE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Badge số lượng sản phẩm trên giỏ hàng biến mất hoàn toàn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PASSED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190284553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TC02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Quản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lý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vòng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đời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ứng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dụng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1. </a:t>
                          </a:r>
                          <a:r>
                            <a:rPr lang="en-US" sz="1000" dirty="0" err="1">
                              <a:effectLst/>
                            </a:rPr>
                            <a:t>Đóng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ứng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dụng</a:t>
                          </a:r>
                          <a:r>
                            <a:rPr lang="en-US" sz="1000" dirty="0">
                              <a:effectLst/>
                            </a:rPr>
                            <a:t> (</a:t>
                          </a:r>
                          <a:r>
                            <a:rPr lang="en-US" sz="1000" dirty="0" err="1">
                              <a:effectLst/>
                            </a:rPr>
                            <a:t>terminate_app</a:t>
                          </a:r>
                          <a:r>
                            <a:rPr lang="en-US" sz="1000" dirty="0">
                              <a:effectLst/>
                            </a:rPr>
                            <a:t>)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2. </a:t>
                          </a:r>
                          <a:r>
                            <a:rPr lang="en-US" sz="1000" dirty="0" err="1">
                              <a:effectLst/>
                            </a:rPr>
                            <a:t>Mở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lại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ứng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dụng</a:t>
                          </a:r>
                          <a:r>
                            <a:rPr lang="en-US" sz="1000" dirty="0">
                              <a:effectLst/>
                            </a:rPr>
                            <a:t> (</a:t>
                          </a:r>
                          <a:r>
                            <a:rPr lang="en-US" sz="1000" dirty="0" err="1">
                              <a:effectLst/>
                            </a:rPr>
                            <a:t>activate_app</a:t>
                          </a:r>
                          <a:r>
                            <a:rPr lang="en-US" sz="1000" dirty="0">
                              <a:effectLst/>
                            </a:rPr>
                            <a:t>)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Ứng dụng khôi phục thành công, hiển thị màn hình chính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PASSED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996965359"/>
                      </a:ext>
                    </a:extLst>
                  </a:tr>
                  <a:tr h="386295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TC03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Duy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trì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phiên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đăng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nhập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</a:rPr>
                            <a:t>Khởi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chạy</a:t>
                          </a:r>
                          <a:r>
                            <a:rPr lang="en-US" sz="1000" dirty="0">
                              <a:effectLst/>
                            </a:rPr>
                            <a:t> Appium Session </a:t>
                          </a:r>
                          <a:r>
                            <a:rPr lang="en-US" sz="1000" dirty="0" err="1">
                              <a:effectLst/>
                            </a:rPr>
                            <a:t>mới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với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no_reset</a:t>
                          </a:r>
                          <a:r>
                            <a:rPr lang="en-US" sz="1000" dirty="0">
                              <a:effectLst/>
                            </a:rPr>
                            <a:t> = True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Giữ nguyên phiên làm việc, không yêu cầu đăng nhập lại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XPASS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313760971"/>
                      </a:ext>
                    </a:extLst>
                  </a:tr>
                  <a:tr h="559855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TC04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Làm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sạch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hàng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sau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Restart</a:t>
                          </a: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1. </a:t>
                          </a:r>
                          <a:r>
                            <a:rPr lang="en-US" sz="1000" dirty="0" err="1">
                              <a:effectLst/>
                            </a:rPr>
                            <a:t>Thêm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sản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phẩm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vào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hàng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2. Restart App (terminate + activate)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000" dirty="0" err="1">
                              <a:effectLst/>
                            </a:rPr>
                            <a:t>Vào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hàng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</a:rPr>
                            <a:t>Sản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phẩm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đã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thêm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biến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mất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khỏi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hàng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sau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khi</a:t>
                          </a:r>
                          <a:r>
                            <a:rPr lang="en-US" sz="1000" dirty="0">
                              <a:effectLst/>
                            </a:rPr>
                            <a:t> restart app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PASSED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4549344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699DDB4-2998-A7FE-9721-0C7CF8362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800" y="1621090"/>
              <a:ext cx="7613650" cy="2185679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52450">
                      <a:extLst>
                        <a:ext uri="{9D8B030D-6E8A-4147-A177-3AD203B41FA5}">
                          <a16:colId xmlns:a16="http://schemas.microsoft.com/office/drawing/2014/main" val="1644970209"/>
                        </a:ext>
                      </a:extLst>
                    </a:gridCol>
                    <a:gridCol w="1733550">
                      <a:extLst>
                        <a:ext uri="{9D8B030D-6E8A-4147-A177-3AD203B41FA5}">
                          <a16:colId xmlns:a16="http://schemas.microsoft.com/office/drawing/2014/main" val="2154446181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4064170957"/>
                        </a:ext>
                      </a:extLst>
                    </a:gridCol>
                    <a:gridCol w="2101850">
                      <a:extLst>
                        <a:ext uri="{9D8B030D-6E8A-4147-A177-3AD203B41FA5}">
                          <a16:colId xmlns:a16="http://schemas.microsoft.com/office/drawing/2014/main" val="3378288711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589649940"/>
                        </a:ext>
                      </a:extLst>
                    </a:gridCol>
                  </a:tblGrid>
                  <a:tr h="341060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 dirty="0" err="1">
                              <a:effectLst/>
                            </a:rPr>
                            <a:t>Mã</a:t>
                          </a:r>
                          <a:r>
                            <a:rPr lang="en-US" sz="900" b="1" dirty="0">
                              <a:effectLst/>
                            </a:rPr>
                            <a:t> TC</a:t>
                          </a:r>
                          <a:endParaRPr lang="en-US" sz="900" b="1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>
                              <a:effectLst/>
                            </a:rPr>
                            <a:t>Tên Test Case</a:t>
                          </a:r>
                          <a:endParaRPr lang="en-US" sz="900" b="1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 dirty="0">
                              <a:effectLst/>
                            </a:rPr>
                            <a:t>Các </a:t>
                          </a:r>
                          <a:r>
                            <a:rPr lang="en-US" sz="900" b="1" dirty="0" err="1">
                              <a:effectLst/>
                            </a:rPr>
                            <a:t>Bước</a:t>
                          </a:r>
                          <a:r>
                            <a:rPr lang="en-US" sz="900" b="1" dirty="0">
                              <a:effectLst/>
                            </a:rPr>
                            <a:t> </a:t>
                          </a:r>
                          <a:r>
                            <a:rPr lang="en-US" sz="900" b="1" dirty="0" err="1">
                              <a:effectLst/>
                            </a:rPr>
                            <a:t>Thực</a:t>
                          </a:r>
                          <a:r>
                            <a:rPr lang="en-US" sz="900" b="1" dirty="0">
                              <a:effectLst/>
                            </a:rPr>
                            <a:t> </a:t>
                          </a:r>
                          <a:r>
                            <a:rPr lang="en-US" sz="900" b="1" dirty="0" err="1">
                              <a:effectLst/>
                            </a:rPr>
                            <a:t>Hiện</a:t>
                          </a:r>
                          <a:endParaRPr lang="en-US" sz="900" b="1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>
                              <a:effectLst/>
                            </a:rPr>
                            <a:t>Kết Quả Mong Đợi</a:t>
                          </a:r>
                          <a:endParaRPr lang="en-US" sz="900" b="1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900" b="1" dirty="0" err="1">
                              <a:effectLst/>
                            </a:rPr>
                            <a:t>Kết</a:t>
                          </a:r>
                          <a:r>
                            <a:rPr lang="en-US" sz="900" b="1" dirty="0">
                              <a:effectLst/>
                            </a:rPr>
                            <a:t> </a:t>
                          </a:r>
                          <a:r>
                            <a:rPr lang="en-US" sz="900" b="1" dirty="0" err="1">
                              <a:effectLst/>
                            </a:rPr>
                            <a:t>Quả</a:t>
                          </a:r>
                          <a:endParaRPr lang="en-US" sz="900" b="1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1856836940"/>
                      </a:ext>
                    </a:extLst>
                  </a:tr>
                  <a:tr h="466669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TC01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Xóa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hàng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khi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Reset App</a:t>
                          </a: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15" marR="36215" marT="24143" marB="24143" anchor="ctr">
                        <a:blipFill>
                          <a:blip r:embed="rId3"/>
                          <a:stretch>
                            <a:fillRect l="-91041" t="-74026" r="-112349" b="-2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Badge số lượng sản phẩm trên giỏ hàng biến mất hoàn toàn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PASSED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190284553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TC02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Quản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lý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vòng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đời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ứng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dụng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1. </a:t>
                          </a:r>
                          <a:r>
                            <a:rPr lang="en-US" sz="1000" dirty="0" err="1">
                              <a:effectLst/>
                            </a:rPr>
                            <a:t>Đóng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ứng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dụng</a:t>
                          </a:r>
                          <a:r>
                            <a:rPr lang="en-US" sz="1000" dirty="0">
                              <a:effectLst/>
                            </a:rPr>
                            <a:t> (</a:t>
                          </a:r>
                          <a:r>
                            <a:rPr lang="en-US" sz="1000" dirty="0" err="1">
                              <a:effectLst/>
                            </a:rPr>
                            <a:t>terminate_app</a:t>
                          </a:r>
                          <a:r>
                            <a:rPr lang="en-US" sz="1000" dirty="0">
                              <a:effectLst/>
                            </a:rPr>
                            <a:t>)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2. </a:t>
                          </a:r>
                          <a:r>
                            <a:rPr lang="en-US" sz="1000" dirty="0" err="1">
                              <a:effectLst/>
                            </a:rPr>
                            <a:t>Mở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lại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ứng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dụng</a:t>
                          </a:r>
                          <a:r>
                            <a:rPr lang="en-US" sz="1000" dirty="0">
                              <a:effectLst/>
                            </a:rPr>
                            <a:t> (</a:t>
                          </a:r>
                          <a:r>
                            <a:rPr lang="en-US" sz="1000" dirty="0" err="1">
                              <a:effectLst/>
                            </a:rPr>
                            <a:t>activate_app</a:t>
                          </a:r>
                          <a:r>
                            <a:rPr lang="en-US" sz="1000" dirty="0">
                              <a:effectLst/>
                            </a:rPr>
                            <a:t>)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Ứng dụng khôi phục thành công, hiển thị màn hình chính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PASSED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996965359"/>
                      </a:ext>
                    </a:extLst>
                  </a:tr>
                  <a:tr h="386295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TC03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Duy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trì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phiên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đăng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nhập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</a:rPr>
                            <a:t>Khởi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chạy</a:t>
                          </a:r>
                          <a:r>
                            <a:rPr lang="en-US" sz="1000" dirty="0">
                              <a:effectLst/>
                            </a:rPr>
                            <a:t> Appium Session </a:t>
                          </a:r>
                          <a:r>
                            <a:rPr lang="en-US" sz="1000" dirty="0" err="1">
                              <a:effectLst/>
                            </a:rPr>
                            <a:t>mới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với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no_reset</a:t>
                          </a:r>
                          <a:r>
                            <a:rPr lang="en-US" sz="1000" dirty="0">
                              <a:effectLst/>
                            </a:rPr>
                            <a:t> = True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Giữ nguyên phiên làm việc, không yêu cầu đăng nhập lại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XPASS</a:t>
                          </a:r>
                          <a:endParaRPr lang="en-US" sz="100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313760971"/>
                      </a:ext>
                    </a:extLst>
                  </a:tr>
                  <a:tr h="559855"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TC04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Làm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sạch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hàng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  <a:latin typeface="Google Sans Text"/>
                            </a:rPr>
                            <a:t>sau</a:t>
                          </a:r>
                          <a:r>
                            <a:rPr lang="en-US" sz="1000" dirty="0">
                              <a:effectLst/>
                              <a:latin typeface="Google Sans Text"/>
                            </a:rPr>
                            <a:t> Restart</a:t>
                          </a: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215" marR="36215" marT="24143" marB="24143" anchor="ctr">
                        <a:blipFill>
                          <a:blip r:embed="rId3"/>
                          <a:stretch>
                            <a:fillRect l="-91041" t="-292391" r="-112349" b="-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 err="1">
                              <a:effectLst/>
                            </a:rPr>
                            <a:t>Sản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phẩm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đã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thêm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biến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mất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khỏi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giỏ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hàng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sau</a:t>
                          </a:r>
                          <a:r>
                            <a:rPr lang="en-US" sz="1000" dirty="0">
                              <a:effectLst/>
                            </a:rPr>
                            <a:t> </a:t>
                          </a:r>
                          <a:r>
                            <a:rPr lang="en-US" sz="1000" dirty="0" err="1">
                              <a:effectLst/>
                            </a:rPr>
                            <a:t>khi</a:t>
                          </a:r>
                          <a:r>
                            <a:rPr lang="en-US" sz="1000" dirty="0">
                              <a:effectLst/>
                            </a:rPr>
                            <a:t> restart app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PASSED</a:t>
                          </a:r>
                          <a:endParaRPr lang="en-US" sz="1000" dirty="0">
                            <a:effectLst/>
                            <a:latin typeface="Google Sans Text"/>
                          </a:endParaRPr>
                        </a:p>
                      </a:txBody>
                      <a:tcPr marL="36215" marR="36215" marT="24143" marB="24143" anchor="ctr"/>
                    </a:tc>
                    <a:extLst>
                      <a:ext uri="{0D108BD9-81ED-4DB2-BD59-A6C34878D82A}">
                        <a16:rowId xmlns:a16="http://schemas.microsoft.com/office/drawing/2014/main" val="34549344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A7A01C1-6FC0-B61F-DB52-9B762E3CA491}"/>
              </a:ext>
            </a:extLst>
          </p:cNvPr>
          <p:cNvSpPr txBox="1"/>
          <p:nvPr/>
        </p:nvSpPr>
        <p:spPr>
          <a:xfrm>
            <a:off x="571500" y="1103416"/>
            <a:ext cx="614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Bảng</a:t>
            </a:r>
            <a:r>
              <a:rPr lang="en-US" sz="1200" dirty="0"/>
              <a:t> </a:t>
            </a:r>
            <a:r>
              <a:rPr lang="en-US" sz="1200" dirty="0" err="1"/>
              <a:t>kịch</a:t>
            </a:r>
            <a:r>
              <a:rPr lang="en-US" sz="1200" dirty="0"/>
              <a:t> </a:t>
            </a:r>
            <a:r>
              <a:rPr lang="en-US" sz="1200" dirty="0" err="1"/>
              <a:t>bản</a:t>
            </a:r>
            <a:r>
              <a:rPr lang="en-US" sz="1200" dirty="0"/>
              <a:t> </a:t>
            </a:r>
            <a:r>
              <a:rPr lang="en-US" sz="1200" dirty="0" err="1"/>
              <a:t>kiểm</a:t>
            </a:r>
            <a:r>
              <a:rPr lang="en-US" sz="1200" dirty="0"/>
              <a:t> </a:t>
            </a:r>
            <a:r>
              <a:rPr lang="en-US" sz="1200" dirty="0" err="1"/>
              <a:t>thử</a:t>
            </a:r>
            <a:r>
              <a:rPr lang="en-US" sz="1200" dirty="0"/>
              <a:t> </a:t>
            </a:r>
            <a:r>
              <a:rPr lang="en-US" sz="1200" dirty="0" err="1"/>
              <a:t>tự</a:t>
            </a:r>
            <a:r>
              <a:rPr lang="en-US" sz="1200" dirty="0"/>
              <a:t> </a:t>
            </a:r>
            <a:r>
              <a:rPr lang="en-US" sz="1200" dirty="0" err="1"/>
              <a:t>động</a:t>
            </a:r>
            <a:r>
              <a:rPr lang="en-US" sz="1200" dirty="0"/>
              <a:t> (app state &amp; lifecycle)</a:t>
            </a:r>
          </a:p>
        </p:txBody>
      </p:sp>
    </p:spTree>
    <p:extLst>
      <p:ext uri="{BB962C8B-B14F-4D97-AF65-F5344CB8AC3E}">
        <p14:creationId xmlns:p14="http://schemas.microsoft.com/office/powerpoint/2010/main" val="9438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F034-06B2-507E-F94B-52470D1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AFF92D29-A7AE-A9F2-67B8-43D85D18F697}"/>
              </a:ext>
            </a:extLst>
          </p:cNvPr>
          <p:cNvSpPr txBox="1">
            <a:spLocks/>
          </p:cNvSpPr>
          <p:nvPr/>
        </p:nvSpPr>
        <p:spPr>
          <a:xfrm>
            <a:off x="0" y="290042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 spc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2400" b="1" dirty="0">
                <a:latin typeface="+mn-lt"/>
              </a:rPr>
              <a:t>04. </a:t>
            </a:r>
            <a:r>
              <a:rPr lang="vi-VN" sz="2400" b="1" dirty="0" err="1">
                <a:latin typeface="+mn-lt"/>
              </a:rPr>
              <a:t>Demo</a:t>
            </a:r>
            <a:r>
              <a:rPr lang="vi-VN" sz="2400" b="1" dirty="0">
                <a:latin typeface="+mn-lt"/>
              </a:rPr>
              <a:t> </a:t>
            </a:r>
            <a:endParaRPr lang="en-US" sz="2400" b="1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538F5A-95B1-0ACD-261F-04DFA8A16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73" y="1322429"/>
            <a:ext cx="5464376" cy="1088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19CB11-BF00-7206-9C33-9D5198115BF4}"/>
              </a:ext>
            </a:extLst>
          </p:cNvPr>
          <p:cNvSpPr txBox="1"/>
          <p:nvPr/>
        </p:nvSpPr>
        <p:spPr>
          <a:xfrm>
            <a:off x="431800" y="918832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Kết quả </a:t>
            </a:r>
            <a:r>
              <a:rPr lang="vi-VN" dirty="0" err="1"/>
              <a:t>demo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C7A43-477B-3456-AB46-4CDB5E5D24BC}"/>
              </a:ext>
            </a:extLst>
          </p:cNvPr>
          <p:cNvSpPr txBox="1"/>
          <p:nvPr/>
        </p:nvSpPr>
        <p:spPr>
          <a:xfrm>
            <a:off x="476148" y="2662480"/>
            <a:ext cx="5610225" cy="1720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200" b="1" dirty="0"/>
              <a:t>Chức năng chính được kiểm thử: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 err="1"/>
              <a:t>Reset</a:t>
            </a:r>
            <a:r>
              <a:rPr lang="vi-VN" sz="1200" dirty="0"/>
              <a:t> </a:t>
            </a:r>
            <a:r>
              <a:rPr lang="vi-VN" sz="1200" dirty="0" err="1"/>
              <a:t>App</a:t>
            </a:r>
            <a:r>
              <a:rPr lang="vi-VN" sz="1200" dirty="0"/>
              <a:t> </a:t>
            </a:r>
            <a:r>
              <a:rPr lang="vi-VN" sz="1200" dirty="0" err="1"/>
              <a:t>State</a:t>
            </a:r>
            <a:r>
              <a:rPr lang="vi-VN" sz="1200" dirty="0"/>
              <a:t>: Thao tác </a:t>
            </a:r>
            <a:r>
              <a:rPr lang="vi-VN" sz="1200" dirty="0" err="1"/>
              <a:t>Reset</a:t>
            </a:r>
            <a:r>
              <a:rPr lang="vi-VN" sz="1200" dirty="0"/>
              <a:t> ứng dụng từ </a:t>
            </a:r>
            <a:r>
              <a:rPr lang="vi-VN" sz="1200" dirty="0" err="1"/>
              <a:t>Menu</a:t>
            </a:r>
            <a:r>
              <a:rPr lang="vi-VN" sz="1200" dirty="0"/>
              <a:t> điều hướng để xóa toàn bộ dữ liệu giỏ hàng và ẩn </a:t>
            </a:r>
            <a:r>
              <a:rPr lang="vi-VN" sz="1200" dirty="0" err="1"/>
              <a:t>badge</a:t>
            </a:r>
            <a:r>
              <a:rPr lang="vi-VN" sz="1200" dirty="0"/>
              <a:t> số lượng.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/>
              <a:t>Quản lý vòng đời </a:t>
            </a:r>
            <a:r>
              <a:rPr lang="vi-VN" sz="1200" dirty="0" err="1"/>
              <a:t>App</a:t>
            </a:r>
            <a:r>
              <a:rPr lang="vi-VN" sz="1200" dirty="0"/>
              <a:t> (</a:t>
            </a:r>
            <a:r>
              <a:rPr lang="vi-VN" sz="1200" dirty="0" err="1"/>
              <a:t>App</a:t>
            </a:r>
            <a:r>
              <a:rPr lang="vi-VN" sz="1200" dirty="0"/>
              <a:t> </a:t>
            </a:r>
            <a:r>
              <a:rPr lang="vi-VN" sz="1200" dirty="0" err="1"/>
              <a:t>Lifecycle</a:t>
            </a:r>
            <a:r>
              <a:rPr lang="vi-VN" sz="1200" dirty="0"/>
              <a:t>): Giả lập việc đóng (</a:t>
            </a:r>
            <a:r>
              <a:rPr lang="vi-VN" sz="1200" dirty="0" err="1"/>
              <a:t>terminate_app</a:t>
            </a:r>
            <a:r>
              <a:rPr lang="vi-VN" sz="1200" dirty="0"/>
              <a:t>) và mở lại ứng dụng (</a:t>
            </a:r>
            <a:r>
              <a:rPr lang="vi-VN" sz="1200" dirty="0" err="1"/>
              <a:t>activate_app</a:t>
            </a:r>
            <a:r>
              <a:rPr lang="vi-VN" sz="1200" dirty="0"/>
              <a:t>) để kiểm tra khả năng phục hồi giao diện và khôi phục/xóa giỏ hàng</a:t>
            </a:r>
          </a:p>
        </p:txBody>
      </p:sp>
    </p:spTree>
    <p:extLst>
      <p:ext uri="{BB962C8B-B14F-4D97-AF65-F5344CB8AC3E}">
        <p14:creationId xmlns:p14="http://schemas.microsoft.com/office/powerpoint/2010/main" val="120552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0E6C-6730-8677-4441-B87170575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71599"/>
            <a:ext cx="9144000" cy="1718781"/>
          </a:xfrm>
        </p:spPr>
        <p:txBody>
          <a:bodyPr/>
          <a:lstStyle/>
          <a:p>
            <a:r>
              <a:rPr lang="vi-VN" sz="4800" b="1">
                <a:latin typeface="+mn-lt"/>
              </a:rPr>
              <a:t>CẢM ƠN CÔ VÀ CÁC BẠN </a:t>
            </a:r>
            <a:br>
              <a:rPr lang="vi-VN" sz="4400" b="1">
                <a:latin typeface="+mn-lt"/>
              </a:rPr>
            </a:br>
            <a:r>
              <a:rPr lang="vi-VN" sz="4400" b="1">
                <a:latin typeface="+mn-lt"/>
              </a:rPr>
              <a:t>ĐÃ LẮNG NGHE</a:t>
            </a:r>
            <a:endParaRPr lang="en-US" sz="44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8244239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PresentationFormat>On-screen Show (16:9)</PresentationFormat>
  <Paragraphs>137</Paragraphs>
  <Slides>15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Minimalist Business Slides XL by Slidesgo</vt:lpstr>
      <vt:lpstr>BÁO CÁO NỘI DUNG TUẦN 7</vt:lpstr>
      <vt:lpstr>Cookie</vt:lpstr>
      <vt:lpstr>01. Cookie</vt:lpstr>
      <vt:lpstr>01. Cookie</vt:lpstr>
      <vt:lpstr>01. Cookie</vt:lpstr>
      <vt:lpstr>01. Cookie</vt:lpstr>
      <vt:lpstr>02. Cơ chế chờ tường minh</vt:lpstr>
      <vt:lpstr>02. Cơ chế chờ tường minh</vt:lpstr>
      <vt:lpstr>03. Desired Capabilities - Thiết lập thuộc tính mong muốn</vt:lpstr>
      <vt:lpstr>03. Desired Capabilities - Thiết lập thuộc tính mong muốn</vt:lpstr>
      <vt:lpstr>PowerPoint Presentation</vt:lpstr>
      <vt:lpstr>PowerPoint Presentation</vt:lpstr>
      <vt:lpstr>PowerPoint Presentation</vt:lpstr>
      <vt:lpstr>PowerPoint Presentation</vt:lpstr>
      <vt:lpstr>CẢM ƠN CÔ VÀ CÁC BẠN 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siuuuuu Diệu Linh</cp:lastModifiedBy>
  <cp:revision>4</cp:revision>
  <dcterms:modified xsi:type="dcterms:W3CDTF">2026-10-30T08:52:23Z</dcterms:modified>
</cp:coreProperties>
</file>